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27432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8EEFF"/>
                </a:solidFill>
                <a:latin typeface="Arial"/>
              </a:defRPr>
            </a:pPr>
            <a:r>
              <a:t>Core Paper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E2050"/>
                </a:solidFill>
                <a:latin typeface="Arial"/>
              </a:defRPr>
            </a:pPr>
            <a:r>
              <a:t>Attention Is All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36E8D"/>
                </a:solidFill>
                <a:latin typeface="Arial"/>
              </a:defRPr>
            </a:pPr>
            <a:r>
              <a:t>깔끔한 핵심 요약 · Transformer의 시작점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7498079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621792" bIns="109728"/>
          <a:lstStyle/>
          <a:p>
            <a:pPr algn="ctr">
              <a:spcAft>
                <a:spcPts val="800"/>
              </a:spcAft>
              <a:defRPr sz="2400">
                <a:solidFill>
                  <a:srgbClr val="222734"/>
                </a:solidFill>
                <a:latin typeface="Arial"/>
              </a:defRPr>
            </a:pPr>
            <a:r>
              <a:t>• RNN/CNN 대신 Self-Attention으로 시퀀스 변환</a:t>
            </a:r>
          </a:p>
          <a:p>
            <a:pPr>
              <a:spcAft>
                <a:spcPts val="800"/>
              </a:spcAft>
              <a:defRPr sz="2400">
                <a:solidFill>
                  <a:srgbClr val="222734"/>
                </a:solidFill>
                <a:latin typeface="Arial"/>
              </a:defRPr>
            </a:pPr>
            <a:r>
              <a:t>• 학습 병렬화 효율을 구조적으로 개선</a:t>
            </a:r>
          </a:p>
          <a:p>
            <a:pPr>
              <a:spcAft>
                <a:spcPts val="800"/>
              </a:spcAft>
              <a:defRPr sz="2400">
                <a:solidFill>
                  <a:srgbClr val="222734"/>
                </a:solidFill>
                <a:latin typeface="Arial"/>
              </a:defRPr>
            </a:pPr>
            <a:r>
              <a:t>• BERT/GPT 계열의 기반 아키텍처 확립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A3C8C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783080"/>
            <a:ext cx="3063240" cy="4251960"/>
          </a:xfrm>
          <a:prstGeom prst="roundRect">
            <a:avLst>
              <a:gd name="adj" fmla="val 5000"/>
            </a:avLst>
          </a:prstGeom>
          <a:solidFill>
            <a:srgbClr val="F5E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640080" bIns="109728"/>
          <a:lstStyle/>
          <a:p>
            <a:pPr algn="ctr">
              <a:spcAft>
                <a:spcPts val="800"/>
              </a:spcAft>
              <a:defRPr sz="2000">
                <a:solidFill>
                  <a:srgbClr val="222734"/>
                </a:solidFill>
                <a:latin typeface="Arial"/>
              </a:defRPr>
            </a:pPr>
            <a:r>
              <a:t>• Transformer</a:t>
            </a:r>
          </a:p>
          <a:p>
            <a:pPr>
              <a:spcAft>
                <a:spcPts val="800"/>
              </a:spcAft>
              <a:defRPr sz="2000">
                <a:solidFill>
                  <a:srgbClr val="222734"/>
                </a:solidFill>
                <a:latin typeface="Arial"/>
              </a:defRPr>
            </a:pPr>
            <a:r>
              <a:t>• Multi-Head Attention</a:t>
            </a:r>
          </a:p>
          <a:p>
            <a:pPr>
              <a:spcAft>
                <a:spcPts val="800"/>
              </a:spcAft>
              <a:defRPr sz="2000">
                <a:solidFill>
                  <a:srgbClr val="222734"/>
                </a:solidFill>
                <a:latin typeface="Arial"/>
              </a:defRPr>
            </a:pPr>
            <a:r>
              <a:t>• Positional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920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A3C8C"/>
                </a:solidFill>
                <a:latin typeface="Arial"/>
              </a:defRPr>
            </a:pPr>
            <a:r>
              <a:t>Key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44652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8D"/>
                </a:solidFill>
                <a:latin typeface="Arial"/>
              </a:defRPr>
            </a:pPr>
            <a:r>
              <a:t>OpenClaw styled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4652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8D"/>
                </a:solidFill>
                <a:latin typeface="Arial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27432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8EEFF"/>
                </a:solidFill>
                <a:latin typeface="Arial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E2050"/>
                </a:solidFill>
                <a:latin typeface="Arial"/>
              </a:defRPr>
            </a:pPr>
            <a:r>
              <a:t>Why this paper mattered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36E8D"/>
                </a:solidFill>
                <a:latin typeface="Arial"/>
              </a:defRPr>
            </a:pPr>
            <a:r>
              <a:t>문제 정의와 구조적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493776" bIns="109728"/>
          <a:lstStyle/>
          <a:p>
            <a:pPr algn="ctr">
              <a:spcAft>
                <a:spcPts val="800"/>
              </a:spcAft>
              <a:defRPr sz="2000">
                <a:solidFill>
                  <a:srgbClr val="222734"/>
                </a:solidFill>
                <a:latin typeface="Arial"/>
              </a:defRPr>
            </a:pPr>
            <a:r>
              <a:t>• RNN Seq2Seq는 장거리 의존성 학습이 어려움</a:t>
            </a:r>
          </a:p>
          <a:p>
            <a:pPr>
              <a:spcAft>
                <a:spcPts val="800"/>
              </a:spcAft>
              <a:defRPr sz="2000">
                <a:solidFill>
                  <a:srgbClr val="222734"/>
                </a:solidFill>
                <a:latin typeface="Arial"/>
              </a:defRPr>
            </a:pPr>
            <a:r>
              <a:t>• 순차 처리로 학습 병렬화가 제한됨</a:t>
            </a:r>
          </a:p>
          <a:p>
            <a:pPr>
              <a:spcAft>
                <a:spcPts val="800"/>
              </a:spcAft>
              <a:defRPr sz="2000">
                <a:solidFill>
                  <a:srgbClr val="222734"/>
                </a:solidFill>
                <a:latin typeface="Arial"/>
              </a:defRPr>
            </a:pPr>
            <a:r>
              <a:t>• 대규모 확장에서 시간/비용 병목 발생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A3C8C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074920" cy="448056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493776" bIns="109728"/>
          <a:lstStyle/>
          <a:p>
            <a:pPr algn="ctr">
              <a:spcAft>
                <a:spcPts val="800"/>
              </a:spcAft>
              <a:defRPr sz="2000">
                <a:solidFill>
                  <a:srgbClr val="222734"/>
                </a:solidFill>
                <a:latin typeface="Arial"/>
              </a:defRPr>
            </a:pPr>
            <a:r>
              <a:t>• Attention-only 구조로 관계를 직접 계산</a:t>
            </a:r>
          </a:p>
          <a:p>
            <a:pPr>
              <a:spcAft>
                <a:spcPts val="800"/>
              </a:spcAft>
              <a:defRPr sz="2000">
                <a:solidFill>
                  <a:srgbClr val="222734"/>
                </a:solidFill>
                <a:latin typeface="Arial"/>
              </a:defRPr>
            </a:pPr>
            <a:r>
              <a:t>• 병렬 계산 친화적 구조로 효율 개선</a:t>
            </a:r>
          </a:p>
          <a:p>
            <a:pPr>
              <a:spcAft>
                <a:spcPts val="800"/>
              </a:spcAft>
              <a:defRPr sz="2000">
                <a:solidFill>
                  <a:srgbClr val="222734"/>
                </a:solidFill>
                <a:latin typeface="Arial"/>
              </a:defRPr>
            </a:pPr>
            <a:r>
              <a:t>• 현대 LLM 아키텍처의 표준 기반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A3C8C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44652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8D"/>
                </a:solidFill>
                <a:latin typeface="Arial"/>
              </a:defRPr>
            </a:pPr>
            <a:r>
              <a:t>OpenClaw styled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4652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8D"/>
                </a:solidFill>
                <a:latin typeface="Arial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27432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8EEFF"/>
                </a:solidFill>
                <a:latin typeface="Arial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E2050"/>
                </a:solidFill>
                <a:latin typeface="Arial"/>
              </a:defRPr>
            </a:pPr>
            <a:r>
              <a:t>Architecture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36E8D"/>
                </a:solidFill>
                <a:latin typeface="Arial"/>
              </a:defRPr>
            </a:pPr>
            <a:r>
              <a:t>Transformer block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9728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063240"/>
            <a:ext cx="2148840" cy="1234440"/>
          </a:xfrm>
          <a:prstGeom prst="roundRect">
            <a:avLst/>
          </a:prstGeom>
          <a:solidFill>
            <a:srgbClr val="F5EFFF"/>
          </a:solidFill>
          <a:ln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050"/>
                </a:solidFill>
                <a:latin typeface="Arial"/>
              </a:defRPr>
            </a:pPr>
            <a:r>
              <a:t>Input 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063240"/>
            <a:ext cx="2148840" cy="1234440"/>
          </a:xfrm>
          <a:prstGeom prst="roundRect">
            <a:avLst/>
          </a:prstGeom>
          <a:solidFill>
            <a:srgbClr val="EEF4FF"/>
          </a:solidFill>
          <a:ln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050"/>
                </a:solidFill>
                <a:latin typeface="Arial"/>
              </a:defRPr>
            </a:pPr>
            <a:r>
              <a:t>Multi-Head 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63240"/>
            <a:ext cx="2148840" cy="1234440"/>
          </a:xfrm>
          <a:prstGeom prst="roundRect">
            <a:avLst/>
          </a:prstGeom>
          <a:solidFill>
            <a:srgbClr val="F5EFFF"/>
          </a:solidFill>
          <a:ln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050"/>
                </a:solidFill>
                <a:latin typeface="Arial"/>
              </a:defRPr>
            </a:pPr>
            <a:r>
              <a:t>Feed-Forward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39" y="3063240"/>
            <a:ext cx="2148840" cy="1234440"/>
          </a:xfrm>
          <a:prstGeom prst="roundRect">
            <a:avLst/>
          </a:prstGeom>
          <a:solidFill>
            <a:srgbClr val="EEF4FF"/>
          </a:solidFill>
          <a:ln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050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3456432"/>
            <a:ext cx="411480" cy="411480"/>
          </a:xfrm>
          <a:prstGeom prst="rightArrow">
            <a:avLst/>
          </a:prstGeom>
          <a:solidFill>
            <a:srgbClr val="42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806440" y="3456432"/>
            <a:ext cx="411480" cy="411480"/>
          </a:xfrm>
          <a:prstGeom prst="rightArrow">
            <a:avLst/>
          </a:prstGeom>
          <a:solidFill>
            <a:srgbClr val="42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366759" y="3456432"/>
            <a:ext cx="411480" cy="411480"/>
          </a:xfrm>
          <a:prstGeom prst="rightArrow">
            <a:avLst/>
          </a:prstGeom>
          <a:solidFill>
            <a:srgbClr val="42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488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734"/>
                </a:solidFill>
                <a:latin typeface="Arial"/>
              </a:defRPr>
            </a:pPr>
            <a:r>
              <a:t>Encoder/Decoder는 Self-Attention + FFN + Residual/LayerNorm 블록을 반복해 표현력을 확장한다.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4652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8D"/>
                </a:solidFill>
                <a:latin typeface="Arial"/>
              </a:defRPr>
            </a:pPr>
            <a:r>
              <a:t>OpenClaw styled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4652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8D"/>
                </a:solidFill>
                <a:latin typeface="Arial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27432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8EEFF"/>
                </a:solidFill>
                <a:latin typeface="Arial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E2050"/>
                </a:solidFill>
                <a:latin typeface="Arial"/>
              </a:defRPr>
            </a:pPr>
            <a:r>
              <a:t>Core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36E8D"/>
                </a:solidFill>
                <a:latin typeface="Arial"/>
              </a:defRPr>
            </a:pPr>
            <a:r>
              <a:t>Scaled Dot-Product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9728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A3C8C"/>
                </a:solidFill>
                <a:latin typeface="Arial"/>
              </a:defRPr>
            </a:pPr>
            <a:r>
              <a:t>Attention(Q, K, V) = softmax(QK^T / sqrt(d_k))V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102412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734"/>
                </a:solidFill>
                <a:latin typeface="Arial"/>
              </a:defRPr>
            </a:pPr>
            <a:r>
              <a:t>• QK^T로 토큰 간 관련도 계산</a:t>
            </a:r>
          </a:p>
          <a:p>
            <a:pPr>
              <a:defRPr sz="2200">
                <a:solidFill>
                  <a:srgbClr val="222734"/>
                </a:solidFill>
                <a:latin typeface="Arial"/>
              </a:defRPr>
            </a:pPr>
            <a:r>
              <a:t>• sqrt(d_k)로 softmax 포화 완화 및 안정화</a:t>
            </a:r>
          </a:p>
          <a:p>
            <a:pPr>
              <a:defRPr sz="2200">
                <a:solidFill>
                  <a:srgbClr val="222734"/>
                </a:solidFill>
                <a:latin typeface="Arial"/>
              </a:defRPr>
            </a:pPr>
            <a:r>
              <a:t>• V 가중합으로 문맥 임베딩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44652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8D"/>
                </a:solidFill>
                <a:latin typeface="Arial"/>
              </a:defRPr>
            </a:pPr>
            <a:r>
              <a:t>OpenClaw styled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44652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8D"/>
                </a:solidFill>
                <a:latin typeface="Arial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27432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8EEFF"/>
                </a:solidFill>
                <a:latin typeface="Arial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E2050"/>
                </a:solidFill>
                <a:latin typeface="Arial"/>
              </a:defRPr>
            </a:pPr>
            <a:r>
              <a:t>Results 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36E8D"/>
                </a:solidFill>
                <a:latin typeface="Arial"/>
              </a:defRPr>
            </a:pPr>
            <a:r>
              <a:t>Transformer 이후 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8C"/>
                </a:solidFill>
                <a:latin typeface="Arial"/>
              </a:defRPr>
            </a:pPr>
            <a:r>
              <a:t>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31546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734"/>
                </a:solidFill>
                <a:latin typeface="Arial"/>
              </a:defRPr>
            </a:pPr>
            <a:r>
              <a:t>Recurrence → Attention 중심 전환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1874519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EDF8F1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103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8C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743200"/>
            <a:ext cx="31546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734"/>
                </a:solidFill>
                <a:latin typeface="Arial"/>
              </a:defRPr>
            </a:pPr>
            <a:r>
              <a:t>병렬 학습 효율 대폭 개선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7616" y="1874519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86216" y="2103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8C"/>
                </a:solidFill>
                <a:latin typeface="Arial"/>
              </a:defRPr>
            </a:pPr>
            <a:r>
              <a:t>Legacy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6216" y="2743200"/>
            <a:ext cx="31546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734"/>
                </a:solidFill>
                <a:latin typeface="Arial"/>
              </a:defRPr>
            </a:pPr>
            <a:r>
              <a:t>BERT/GPT 등 현대 LLM의 기반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4652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8D"/>
                </a:solidFill>
                <a:latin typeface="Arial"/>
              </a:defRPr>
            </a:pPr>
            <a:r>
              <a:t>OpenClaw styled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4652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8D"/>
                </a:solidFill>
                <a:latin typeface="Arial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27432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8EEFF"/>
                </a:solidFill>
                <a:latin typeface="Arial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E2050"/>
                </a:solidFill>
                <a:latin typeface="Arial"/>
              </a:defRPr>
            </a:pPr>
            <a:r>
              <a:t>Limitations and follow-ups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36E8D"/>
                </a:solidFill>
                <a:latin typeface="Arial"/>
              </a:defRPr>
            </a:pPr>
            <a:r>
              <a:t>현실적 제약과 개선 방향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493776" bIns="109728"/>
          <a:lstStyle/>
          <a:p>
            <a:pPr algn="ctr">
              <a:spcAft>
                <a:spcPts val="800"/>
              </a:spcAft>
              <a:defRPr sz="2100">
                <a:solidFill>
                  <a:srgbClr val="222734"/>
                </a:solidFill>
                <a:latin typeface="Arial"/>
              </a:defRPr>
            </a:pPr>
            <a:r>
              <a:t>• Self-Attention 계산량 O(n^2)</a:t>
            </a:r>
          </a:p>
          <a:p>
            <a:pPr>
              <a:spcAft>
                <a:spcPts val="800"/>
              </a:spcAft>
              <a:defRPr sz="2100">
                <a:solidFill>
                  <a:srgbClr val="222734"/>
                </a:solidFill>
                <a:latin typeface="Arial"/>
              </a:defRPr>
            </a:pPr>
            <a:r>
              <a:t>• 긴 문맥에서 메모리/연산 부담 증가</a:t>
            </a:r>
          </a:p>
          <a:p>
            <a:pPr>
              <a:spcAft>
                <a:spcPts val="800"/>
              </a:spcAft>
              <a:defRPr sz="2100">
                <a:solidFill>
                  <a:srgbClr val="222734"/>
                </a:solidFill>
                <a:latin typeface="Arial"/>
              </a:defRPr>
            </a:pPr>
            <a:r>
              <a:t>• 실무 latency/throughput 최적화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A3C8C"/>
                </a:solidFill>
                <a:latin typeface="Arial"/>
              </a:defRPr>
            </a:pPr>
            <a:r>
              <a:t>Known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074920" cy="438912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493776" bIns="109728"/>
          <a:lstStyle/>
          <a:p>
            <a:pPr algn="ctr">
              <a:spcAft>
                <a:spcPts val="800"/>
              </a:spcAft>
              <a:defRPr sz="2100">
                <a:solidFill>
                  <a:srgbClr val="222734"/>
                </a:solidFill>
                <a:latin typeface="Arial"/>
              </a:defRPr>
            </a:pPr>
            <a:r>
              <a:t>• Sparse / Linear Attention</a:t>
            </a:r>
          </a:p>
          <a:p>
            <a:pPr>
              <a:spcAft>
                <a:spcPts val="800"/>
              </a:spcAft>
              <a:defRPr sz="2100">
                <a:solidFill>
                  <a:srgbClr val="222734"/>
                </a:solidFill>
                <a:latin typeface="Arial"/>
              </a:defRPr>
            </a:pPr>
            <a:r>
              <a:t>• FlashAttention 최적화</a:t>
            </a:r>
          </a:p>
          <a:p>
            <a:pPr>
              <a:spcAft>
                <a:spcPts val="800"/>
              </a:spcAft>
              <a:defRPr sz="2100">
                <a:solidFill>
                  <a:srgbClr val="222734"/>
                </a:solidFill>
                <a:latin typeface="Arial"/>
              </a:defRPr>
            </a:pPr>
            <a:r>
              <a:t>• Long-context 특화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A3C8C"/>
                </a:solidFill>
                <a:latin typeface="Arial"/>
              </a:defRPr>
            </a:pPr>
            <a:r>
              <a:t>Follow-up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44652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8D"/>
                </a:solidFill>
                <a:latin typeface="Arial"/>
              </a:defRPr>
            </a:pPr>
            <a:r>
              <a:t>OpenClaw styled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4652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8D"/>
                </a:solidFill>
                <a:latin typeface="Arial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27432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8EEFF"/>
                </a:solidFill>
                <a:latin typeface="Arial"/>
              </a:defRPr>
            </a:pPr>
            <a:r>
              <a:t>Final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E2050"/>
                </a:solidFill>
                <a:latin typeface="Arial"/>
              </a:defRPr>
            </a:pPr>
            <a: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36E8D"/>
                </a:solidFill>
                <a:latin typeface="Arial"/>
              </a:defRPr>
            </a:pPr>
            <a:r>
              <a:t>발표 후 기억해야 할 3가지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640080"/>
          <a:lstStyle/>
          <a:p>
            <a:pPr algn="ctr">
              <a:spcAft>
                <a:spcPts val="1400"/>
              </a:spcAft>
              <a:defRPr sz="2800" b="1">
                <a:solidFill>
                  <a:srgbClr val="0E2050"/>
                </a:solidFill>
                <a:latin typeface="Arial"/>
              </a:defRPr>
            </a:pPr>
            <a:r>
              <a:t>1. Transformer 이해는 LLM 이해의 출발점이다.</a:t>
            </a:r>
          </a:p>
          <a:p>
            <a:pPr>
              <a:spcAft>
                <a:spcPts val="1400"/>
              </a:spcAft>
              <a:defRPr sz="2800" b="1">
                <a:solidFill>
                  <a:srgbClr val="0E2050"/>
                </a:solidFill>
                <a:latin typeface="Arial"/>
              </a:defRPr>
            </a:pPr>
            <a:r>
              <a:t>2. 성능과 효율(연산/메모리)을 함께 봐야 한다.</a:t>
            </a:r>
          </a:p>
          <a:p>
            <a:pPr>
              <a:spcAft>
                <a:spcPts val="1400"/>
              </a:spcAft>
              <a:defRPr sz="2800" b="1">
                <a:solidFill>
                  <a:srgbClr val="0E2050"/>
                </a:solidFill>
                <a:latin typeface="Arial"/>
              </a:defRPr>
            </a:pPr>
            <a:r>
              <a:t>3. Attention 설계 선택이 실제 품질을 좌우한다.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44652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36E8D"/>
                </a:solidFill>
                <a:latin typeface="Arial"/>
              </a:defRPr>
            </a:pPr>
            <a:r>
              <a:t>OpenClaw styled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4652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36E8D"/>
                </a:solidFill>
                <a:latin typeface="Arial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
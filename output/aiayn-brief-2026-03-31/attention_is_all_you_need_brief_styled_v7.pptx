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EBF0FF"/>
                </a:solidFill>
                <a:latin typeface="Apple SD Gothic Neo"/>
              </a:defRPr>
            </a:pPr>
            <a:r>
              <a:t>TRANSFORMER PAPER |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4572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EBF0FF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37376"/>
            <a:ext cx="4389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6437376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530352"/>
            <a:ext cx="566928" cy="38404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  <a:latin typeface="Apple SD Gothic Neo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512064"/>
            <a:ext cx="98755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0E2050"/>
                </a:solidFill>
                <a:latin typeface="Apple SD Gothic Neo"/>
              </a:defRPr>
            </a:pPr>
            <a:r>
              <a:t>Attention Is All You Need</a:t>
            </a:r>
          </a:p>
        </p:txBody>
      </p:sp>
      <p:sp>
        <p:nvSpPr>
          <p:cNvPr id="9" name="Rectangle 8"/>
          <p:cNvSpPr/>
          <p:nvPr/>
        </p:nvSpPr>
        <p:spPr>
          <a:xfrm>
            <a:off x="1261872" y="987552"/>
            <a:ext cx="10012680" cy="274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8448" y="1060704"/>
            <a:ext cx="9784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26D8A"/>
                </a:solidFill>
                <a:latin typeface="Apple SD Gothic Neo"/>
              </a:defRPr>
            </a:pPr>
            <a:r>
              <a:t>report-template style adapted to slides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91640"/>
            <a:ext cx="7589520" cy="4297680"/>
          </a:xfrm>
          <a:prstGeom prst="roundRect">
            <a:avLst>
              <a:gd name="adj" fmla="val 5000"/>
            </a:avLst>
          </a:prstGeom>
          <a:solidFill>
            <a:srgbClr val="F5F5F7"/>
          </a:solidFill>
          <a:ln w="1397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640080"/>
          <a:lstStyle/>
          <a:p>
            <a:pPr algn="ctr">
              <a:spcAft>
                <a:spcPts val="800"/>
              </a:spcAft>
              <a:defRPr sz="2300">
                <a:solidFill>
                  <a:srgbClr val="232632"/>
                </a:solidFill>
                <a:latin typeface="Apple SD Gothic Neo"/>
              </a:defRPr>
            </a:pPr>
            <a:r>
              <a:t>• Self-Attention만으로 시퀀스 변환을 수행</a:t>
            </a:r>
          </a:p>
          <a:p>
            <a:pPr>
              <a:spcAft>
                <a:spcPts val="800"/>
              </a:spcAft>
              <a:defRPr sz="2300">
                <a:solidFill>
                  <a:srgbClr val="232632"/>
                </a:solidFill>
                <a:latin typeface="Apple SD Gothic Neo"/>
              </a:defRPr>
            </a:pPr>
            <a:r>
              <a:t>• 학습 병렬화 효율을 구조적으로 크게 개선</a:t>
            </a:r>
          </a:p>
          <a:p>
            <a:pPr>
              <a:spcAft>
                <a:spcPts val="800"/>
              </a:spcAft>
              <a:defRPr sz="2300">
                <a:solidFill>
                  <a:srgbClr val="232632"/>
                </a:solidFill>
                <a:latin typeface="Apple SD Gothic Neo"/>
              </a:defRPr>
            </a:pPr>
            <a:r>
              <a:t>• BERT/GPT 등 현대 LLM의 기반 아키텍처 제공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1801368"/>
            <a:ext cx="7223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핵심 요약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691640"/>
            <a:ext cx="3291840" cy="4297680"/>
          </a:xfrm>
          <a:prstGeom prst="roundRect">
            <a:avLst>
              <a:gd name="adj" fmla="val 5000"/>
            </a:avLst>
          </a:prstGeom>
          <a:solidFill>
            <a:srgbClr val="F8F0FF"/>
          </a:solidFill>
          <a:ln w="1397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658368"/>
          <a:lstStyle/>
          <a:p>
            <a:pPr algn="ctr">
              <a:spcAft>
                <a:spcPts val="800"/>
              </a:spcAft>
              <a:defRPr sz="1900">
                <a:solidFill>
                  <a:srgbClr val="232632"/>
                </a:solidFill>
                <a:latin typeface="Apple SD Gothic Neo"/>
              </a:defRPr>
            </a:pPr>
            <a:r>
              <a:t>• Transformer</a:t>
            </a:r>
          </a:p>
          <a:p>
            <a:pPr>
              <a:spcAft>
                <a:spcPts val="800"/>
              </a:spcAft>
              <a:defRPr sz="1900">
                <a:solidFill>
                  <a:srgbClr val="232632"/>
                </a:solidFill>
                <a:latin typeface="Apple SD Gothic Neo"/>
              </a:defRPr>
            </a:pPr>
            <a:r>
              <a:t>• Multi-Head Attention</a:t>
            </a:r>
          </a:p>
          <a:p>
            <a:pPr>
              <a:spcAft>
                <a:spcPts val="800"/>
              </a:spcAft>
              <a:defRPr sz="1900">
                <a:solidFill>
                  <a:srgbClr val="232632"/>
                </a:solidFill>
                <a:latin typeface="Apple SD Gothic Neo"/>
              </a:defRPr>
            </a:pPr>
            <a:r>
              <a:t>• Positional Encoding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59" y="1801368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키워드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EBF0FF"/>
                </a:solidFill>
                <a:latin typeface="Apple SD Gothic Neo"/>
              </a:defRPr>
            </a:pPr>
            <a:r>
              <a:t>TRANSFORMER PAPER |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4572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EBF0FF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37376"/>
            <a:ext cx="4389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6437376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530352"/>
            <a:ext cx="566928" cy="38404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  <a:latin typeface="Apple SD Gothic Neo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512064"/>
            <a:ext cx="98755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0E2050"/>
                </a:solidFill>
                <a:latin typeface="Apple SD Gothic Neo"/>
              </a:defRPr>
            </a:pPr>
            <a:r>
              <a:t>Why this paper mattered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1261872" y="987552"/>
            <a:ext cx="10012680" cy="274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8448" y="1060704"/>
            <a:ext cx="9784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26D8A"/>
                </a:solidFill>
                <a:latin typeface="Apple SD Gothic Neo"/>
              </a:defRPr>
            </a:pPr>
            <a:r>
              <a:t>from recurrence bottlenecks to attention-first modeling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737360"/>
            <a:ext cx="5577840" cy="4389120"/>
          </a:xfrm>
          <a:prstGeom prst="roundRect">
            <a:avLst>
              <a:gd name="adj" fmla="val 5000"/>
            </a:avLst>
          </a:prstGeom>
          <a:solidFill>
            <a:srgbClr val="F5F5F7"/>
          </a:solidFill>
          <a:ln w="1397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512064"/>
          <a:lstStyle/>
          <a:p>
            <a:pPr algn="ctr">
              <a:spcAft>
                <a:spcPts val="800"/>
              </a:spcAft>
              <a:defRPr sz="2000">
                <a:solidFill>
                  <a:srgbClr val="232632"/>
                </a:solidFill>
                <a:latin typeface="Apple SD Gothic Neo"/>
              </a:defRPr>
            </a:pPr>
            <a:r>
              <a:t>• 장거리 의존성 학습이 어려움</a:t>
            </a:r>
          </a:p>
          <a:p>
            <a:pPr>
              <a:spcAft>
                <a:spcPts val="800"/>
              </a:spcAft>
              <a:defRPr sz="2000">
                <a:solidFill>
                  <a:srgbClr val="232632"/>
                </a:solidFill>
                <a:latin typeface="Apple SD Gothic Neo"/>
              </a:defRPr>
            </a:pPr>
            <a:r>
              <a:t>• 순차 처리로 병렬화 제한</a:t>
            </a:r>
          </a:p>
          <a:p>
            <a:pPr>
              <a:spcAft>
                <a:spcPts val="800"/>
              </a:spcAft>
              <a:defRPr sz="2000">
                <a:solidFill>
                  <a:srgbClr val="232632"/>
                </a:solidFill>
                <a:latin typeface="Apple SD Gothic Neo"/>
              </a:defRPr>
            </a:pPr>
            <a:r>
              <a:t>• 스케일업 시 계산 비용 급증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1847088"/>
            <a:ext cx="5212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Before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737360"/>
            <a:ext cx="5349240" cy="4389120"/>
          </a:xfrm>
          <a:prstGeom prst="roundRect">
            <a:avLst>
              <a:gd name="adj" fmla="val 5000"/>
            </a:avLst>
          </a:prstGeom>
          <a:solidFill>
            <a:srgbClr val="FFF7EB"/>
          </a:solidFill>
          <a:ln w="1397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512064"/>
          <a:lstStyle/>
          <a:p>
            <a:pPr algn="ctr">
              <a:spcAft>
                <a:spcPts val="800"/>
              </a:spcAft>
              <a:defRPr sz="2000">
                <a:solidFill>
                  <a:srgbClr val="232632"/>
                </a:solidFill>
                <a:latin typeface="Apple SD Gothic Neo"/>
              </a:defRPr>
            </a:pPr>
            <a:r>
              <a:t>• Attention-only 구조로 관계 직접 계산</a:t>
            </a:r>
          </a:p>
          <a:p>
            <a:pPr>
              <a:spcAft>
                <a:spcPts val="800"/>
              </a:spcAft>
              <a:defRPr sz="2000">
                <a:solidFill>
                  <a:srgbClr val="232632"/>
                </a:solidFill>
                <a:latin typeface="Apple SD Gothic Neo"/>
              </a:defRPr>
            </a:pPr>
            <a:r>
              <a:t>• 병렬 계산 친화적 설계</a:t>
            </a:r>
          </a:p>
          <a:p>
            <a:pPr>
              <a:spcAft>
                <a:spcPts val="800"/>
              </a:spcAft>
              <a:defRPr sz="2000">
                <a:solidFill>
                  <a:srgbClr val="232632"/>
                </a:solidFill>
                <a:latin typeface="Apple SD Gothic Neo"/>
              </a:defRPr>
            </a:pPr>
            <a:r>
              <a:t>• 대규모 사전학습 모델의 토대 제공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847088"/>
            <a:ext cx="49834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26414"/>
                </a:solidFill>
                <a:latin typeface="Apple SD Gothic Neo"/>
              </a:defRPr>
            </a:pPr>
            <a:r>
              <a:t>After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EBF0FF"/>
                </a:solidFill>
                <a:latin typeface="Apple SD Gothic Neo"/>
              </a:defRPr>
            </a:pPr>
            <a:r>
              <a:t>TRANSFORMER PAPER |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4572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EBF0FF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37376"/>
            <a:ext cx="4389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6437376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530352"/>
            <a:ext cx="566928" cy="38404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  <a:latin typeface="Apple SD Gothic Neo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512064"/>
            <a:ext cx="98755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0E2050"/>
                </a:solidFill>
                <a:latin typeface="Apple SD Gothic Neo"/>
              </a:defRPr>
            </a:pPr>
            <a:r>
              <a:t>Architecture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1261872" y="987552"/>
            <a:ext cx="10012680" cy="274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8448" y="1060704"/>
            <a:ext cx="9784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26D8A"/>
                </a:solidFill>
                <a:latin typeface="Apple SD Gothic Neo"/>
              </a:defRPr>
            </a:pPr>
            <a:r>
              <a:t>encoder/decoder + self-attention blocks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737360"/>
            <a:ext cx="11064240" cy="4343400"/>
          </a:xfrm>
          <a:prstGeom prst="roundRect">
            <a:avLst>
              <a:gd name="adj" fmla="val 5000"/>
            </a:avLst>
          </a:prstGeom>
          <a:solidFill>
            <a:srgbClr val="F5F5F7"/>
          </a:solidFill>
          <a:ln w="1397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847088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Pipeline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063240"/>
            <a:ext cx="2148840" cy="1143000"/>
          </a:xfrm>
          <a:prstGeom prst="roundRect">
            <a:avLst/>
          </a:prstGeom>
          <a:solidFill>
            <a:srgbClr val="F8F0FF"/>
          </a:solidFill>
          <a:ln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E2050"/>
                </a:solidFill>
                <a:latin typeface="Apple SD Gothic Neo"/>
              </a:defRPr>
            </a:pPr>
            <a:r>
              <a:t>Embedding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12463" y="3063240"/>
            <a:ext cx="2148840" cy="1143000"/>
          </a:xfrm>
          <a:prstGeom prst="roundRect">
            <a:avLst/>
          </a:prstGeom>
          <a:solidFill>
            <a:srgbClr val="DCE6FA"/>
          </a:solidFill>
          <a:ln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E2050"/>
                </a:solidFill>
                <a:latin typeface="Apple SD Gothic Neo"/>
              </a:defRPr>
            </a:pPr>
            <a:r>
              <a:t>Multi-Head</a:t>
            </a:r>
            <a:br/>
            <a:r>
              <a:t>Attention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3063240"/>
            <a:ext cx="2148840" cy="1143000"/>
          </a:xfrm>
          <a:prstGeom prst="roundRect">
            <a:avLst/>
          </a:prstGeom>
          <a:solidFill>
            <a:srgbClr val="F8F0FF"/>
          </a:solidFill>
          <a:ln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E2050"/>
                </a:solidFill>
                <a:latin typeface="Apple SD Gothic Neo"/>
              </a:defRPr>
            </a:pPr>
            <a:r>
              <a:t>FFN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42832" y="3063240"/>
            <a:ext cx="2148840" cy="1143000"/>
          </a:xfrm>
          <a:prstGeom prst="roundRect">
            <a:avLst/>
          </a:prstGeom>
          <a:solidFill>
            <a:srgbClr val="DCE6FA"/>
          </a:solidFill>
          <a:ln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E2050"/>
                </a:solidFill>
                <a:latin typeface="Apple SD Gothic Neo"/>
              </a:defRPr>
            </a:pPr>
            <a:r>
              <a:t>Output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273552" y="3410712"/>
            <a:ext cx="411480" cy="347472"/>
          </a:xfrm>
          <a:prstGeom prst="rightArrow">
            <a:avLst/>
          </a:prstGeom>
          <a:solidFill>
            <a:srgbClr val="3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5888736" y="3410712"/>
            <a:ext cx="411480" cy="347472"/>
          </a:xfrm>
          <a:prstGeom prst="rightArrow">
            <a:avLst/>
          </a:prstGeom>
          <a:solidFill>
            <a:srgbClr val="3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8503920" y="3410712"/>
            <a:ext cx="411480" cy="347472"/>
          </a:xfrm>
          <a:prstGeom prst="rightArrow">
            <a:avLst/>
          </a:prstGeom>
          <a:solidFill>
            <a:srgbClr val="3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EBF0FF"/>
                </a:solidFill>
                <a:latin typeface="Apple SD Gothic Neo"/>
              </a:defRPr>
            </a:pPr>
            <a:r>
              <a:t>TRANSFORMER PAPER |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4572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EBF0FF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37376"/>
            <a:ext cx="4389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6437376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530352"/>
            <a:ext cx="566928" cy="38404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  <a:latin typeface="Apple SD Gothic Neo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512064"/>
            <a:ext cx="98755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0E2050"/>
                </a:solidFill>
                <a:latin typeface="Apple SD Gothic Neo"/>
              </a:defRPr>
            </a:pPr>
            <a:r>
              <a:t>Core mechanism</a:t>
            </a:r>
          </a:p>
        </p:txBody>
      </p:sp>
      <p:sp>
        <p:nvSpPr>
          <p:cNvPr id="9" name="Rectangle 8"/>
          <p:cNvSpPr/>
          <p:nvPr/>
        </p:nvSpPr>
        <p:spPr>
          <a:xfrm>
            <a:off x="1261872" y="987552"/>
            <a:ext cx="10012680" cy="274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8448" y="1060704"/>
            <a:ext cx="9784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26D8A"/>
                </a:solidFill>
                <a:latin typeface="Apple SD Gothic Neo"/>
              </a:defRPr>
            </a:pPr>
            <a:r>
              <a:t>scaled dot-product attention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737360"/>
            <a:ext cx="11064240" cy="4389120"/>
          </a:xfrm>
          <a:prstGeom prst="roundRect">
            <a:avLst>
              <a:gd name="adj" fmla="val 5000"/>
            </a:avLst>
          </a:prstGeom>
          <a:solidFill>
            <a:srgbClr val="F5F5F7"/>
          </a:solidFill>
          <a:ln w="1397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847088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Attention formula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359152"/>
            <a:ext cx="1069848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3C8C"/>
                </a:solidFill>
                <a:latin typeface="Apple SD Gothic Neo"/>
              </a:defRPr>
            </a:pPr>
            <a:r>
              <a:t>Attention(Q, K, V) = softmax(QK^T / sqrt(d_k))V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46120"/>
            <a:ext cx="10698480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32632"/>
                </a:solidFill>
                <a:latin typeface="Apple SD Gothic Neo"/>
              </a:defRPr>
            </a:pPr>
            <a:r>
              <a:t>• QK^T로 토큰 간 관련도 계산</a:t>
            </a:r>
          </a:p>
          <a:p>
            <a:pPr>
              <a:defRPr sz="2200">
                <a:solidFill>
                  <a:srgbClr val="232632"/>
                </a:solidFill>
                <a:latin typeface="Apple SD Gothic Neo"/>
              </a:defRPr>
            </a:pPr>
            <a:r>
              <a:t>• sqrt(d_k) 스케일링으로 학습 안정성 개선</a:t>
            </a:r>
          </a:p>
          <a:p>
            <a:pPr>
              <a:defRPr sz="2200">
                <a:solidFill>
                  <a:srgbClr val="232632"/>
                </a:solidFill>
                <a:latin typeface="Apple SD Gothic Neo"/>
              </a:defRPr>
            </a:pPr>
            <a:r>
              <a:t>• V 가중합으로 문맥 표현 생성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EBF0FF"/>
                </a:solidFill>
                <a:latin typeface="Apple SD Gothic Neo"/>
              </a:defRPr>
            </a:pPr>
            <a:r>
              <a:t>TRANSFORMER PAPER |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4572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EBF0FF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37376"/>
            <a:ext cx="4389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6437376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530352"/>
            <a:ext cx="566928" cy="38404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  <a:latin typeface="Apple SD Gothic Neo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512064"/>
            <a:ext cx="98755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0E2050"/>
                </a:solidFill>
                <a:latin typeface="Apple SD Gothic Neo"/>
              </a:defRPr>
            </a:pPr>
            <a:r>
              <a:t>Results and impact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1261872" y="987552"/>
            <a:ext cx="10012680" cy="274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8448" y="1060704"/>
            <a:ext cx="9784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26D8A"/>
                </a:solidFill>
                <a:latin typeface="Apple SD Gothic Neo"/>
              </a:defRPr>
            </a:pPr>
            <a:r>
              <a:t>what changed after AIAYN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783080"/>
            <a:ext cx="3566160" cy="4343400"/>
          </a:xfrm>
          <a:prstGeom prst="roundRect">
            <a:avLst>
              <a:gd name="adj" fmla="val 5000"/>
            </a:avLst>
          </a:prstGeom>
          <a:solidFill>
            <a:srgbClr val="F5F5F7"/>
          </a:solidFill>
          <a:ln w="1397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892807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Modeling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468880"/>
            <a:ext cx="320040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32632"/>
                </a:solidFill>
                <a:latin typeface="Apple SD Gothic Neo"/>
              </a:defRPr>
            </a:pPr>
            <a:r>
              <a:t>Recurrence 중심에서 Attention 중심으로 전환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783080"/>
            <a:ext cx="3566160" cy="4343400"/>
          </a:xfrm>
          <a:prstGeom prst="roundRect">
            <a:avLst>
              <a:gd name="adj" fmla="val 5000"/>
            </a:avLst>
          </a:prstGeom>
          <a:solidFill>
            <a:srgbClr val="F8F9FC"/>
          </a:solidFill>
          <a:ln w="1397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892807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Efficiency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468880"/>
            <a:ext cx="320040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32632"/>
                </a:solidFill>
                <a:latin typeface="Apple SD Gothic Neo"/>
              </a:defRPr>
            </a:pPr>
            <a:r>
              <a:t>병렬 학습 효율을 크게 향상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783080"/>
            <a:ext cx="3566160" cy="4343400"/>
          </a:xfrm>
          <a:prstGeom prst="roundRect">
            <a:avLst>
              <a:gd name="adj" fmla="val 5000"/>
            </a:avLst>
          </a:prstGeom>
          <a:solidFill>
            <a:srgbClr val="F8F0FF"/>
          </a:solidFill>
          <a:ln w="1397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3" y="1892807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3C8C"/>
                </a:solidFill>
                <a:latin typeface="Apple SD Gothic Neo"/>
              </a:defRPr>
            </a:pPr>
            <a:r>
              <a:t>Legacy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3" y="2468880"/>
            <a:ext cx="320040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32632"/>
                </a:solidFill>
                <a:latin typeface="Apple SD Gothic Neo"/>
              </a:defRPr>
            </a:pPr>
            <a:r>
              <a:t>BERT/GPT 계열 LLM의 기반 확립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EBF0FF"/>
                </a:solidFill>
                <a:latin typeface="Apple SD Gothic Neo"/>
              </a:defRPr>
            </a:pPr>
            <a:r>
              <a:t>TRANSFORMER PAPER |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4572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EBF0FF"/>
                </a:solidFill>
                <a:latin typeface="Apple SD Gothic Neo"/>
              </a:defRPr>
            </a:pPr>
            <a:r>
              <a:t>2026-03-31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37376"/>
            <a:ext cx="4389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Jaeyeong CHOI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6437376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pple SD Gothic Neo"/>
              </a:defRPr>
            </a:pPr>
            <a:r>
              <a:t>Attention Is All You Need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530352"/>
            <a:ext cx="566928" cy="384048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  <a:latin typeface="Apple SD Gothic Neo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512064"/>
            <a:ext cx="98755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0E2050"/>
                </a:solidFill>
                <a:latin typeface="Apple SD Gothic Neo"/>
              </a:defRPr>
            </a:pPr>
            <a:r>
              <a:t>Takeaways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1261872" y="987552"/>
            <a:ext cx="10012680" cy="27432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8448" y="1060704"/>
            <a:ext cx="9784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26D8A"/>
                </a:solidFill>
                <a:latin typeface="Apple SD Gothic Neo"/>
              </a:defRPr>
            </a:pPr>
            <a:r>
              <a:t>three points to remember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783080"/>
            <a:ext cx="11064240" cy="4389120"/>
          </a:xfrm>
          <a:prstGeom prst="roundRect">
            <a:avLst>
              <a:gd name="adj" fmla="val 5000"/>
            </a:avLst>
          </a:prstGeom>
          <a:solidFill>
            <a:srgbClr val="F5F5F7"/>
          </a:solidFill>
          <a:ln w="13970">
            <a:solidFill>
              <a:srgbClr val="D8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92608" tIns="658368"/>
          <a:lstStyle/>
          <a:p>
            <a:pPr algn="ctr">
              <a:spcAft>
                <a:spcPts val="1200"/>
              </a:spcAft>
              <a:defRPr sz="2700" b="1">
                <a:solidFill>
                  <a:srgbClr val="0E2050"/>
                </a:solidFill>
                <a:latin typeface="Apple SD Gothic Neo"/>
              </a:defRPr>
            </a:pPr>
            <a:r>
              <a:t>1. Transformer 이해는 LLM 이해의 출발점이다.</a:t>
            </a:r>
          </a:p>
          <a:p>
            <a:pPr>
              <a:spcAft>
                <a:spcPts val="1200"/>
              </a:spcAft>
              <a:defRPr sz="2700" b="1">
                <a:solidFill>
                  <a:srgbClr val="0E2050"/>
                </a:solidFill>
                <a:latin typeface="Apple SD Gothic Neo"/>
              </a:defRPr>
            </a:pPr>
            <a:r>
              <a:t>2. 모델 성능과 계산 효율을 함께 봐야 한다.</a:t>
            </a:r>
          </a:p>
          <a:p>
            <a:pPr>
              <a:spcAft>
                <a:spcPts val="1200"/>
              </a:spcAft>
              <a:defRPr sz="2700" b="1">
                <a:solidFill>
                  <a:srgbClr val="0E2050"/>
                </a:solidFill>
                <a:latin typeface="Apple SD Gothic Neo"/>
              </a:defRPr>
            </a:pPr>
            <a:r>
              <a:t>3. Attention 설계 선택이 실제 성능 차이를 만든다.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1892807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43296"/>
                </a:solidFill>
                <a:latin typeface="Apple SD Gothic Neo"/>
              </a:defRPr>
            </a:pPr>
            <a:r>
              <a:t>Final 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
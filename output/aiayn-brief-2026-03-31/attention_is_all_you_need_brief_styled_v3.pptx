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52560" y="54864"/>
            <a:ext cx="2834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BF0FF"/>
                </a:solidFill>
                <a:latin typeface="Avenir Next"/>
              </a:defRPr>
            </a:pPr>
            <a:r>
              <a:t>Core Paper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02920"/>
            <a:ext cx="98755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>
                <a:solidFill>
                  <a:srgbClr val="0E2050"/>
                </a:solidFill>
                <a:latin typeface="Avenir Next"/>
              </a:defRPr>
            </a:pPr>
            <a:r>
              <a:t>Attention Is All You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5E6B8E"/>
                </a:solidFill>
                <a:latin typeface="Avenir Next"/>
              </a:defRPr>
            </a:pPr>
            <a:r>
              <a:t>깔끔한 핵심 요약 · Transformer의 시작점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6492240" cy="4114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64592" tIns="594360" bIns="128016"/>
          <a:lstStyle/>
          <a:p>
            <a:pPr algn="ctr">
              <a:spcAft>
                <a:spcPts val="1000"/>
              </a:spcAft>
              <a:defRPr sz="2400">
                <a:solidFill>
                  <a:srgbClr val="242834"/>
                </a:solidFill>
                <a:latin typeface="Avenir Next"/>
              </a:defRPr>
            </a:pPr>
            <a:r>
              <a:t>• RNN/CNN 대신 Self-Attention만으로 시퀀스 변환</a:t>
            </a:r>
          </a:p>
          <a:p>
            <a:pPr>
              <a:spcAft>
                <a:spcPts val="1000"/>
              </a:spcAft>
              <a:defRPr sz="2400">
                <a:solidFill>
                  <a:srgbClr val="242834"/>
                </a:solidFill>
                <a:latin typeface="Avenir Next"/>
              </a:defRPr>
            </a:pPr>
            <a:r>
              <a:t>• 학습 병렬화 효율을 크게 개선</a:t>
            </a:r>
          </a:p>
          <a:p>
            <a:pPr>
              <a:spcAft>
                <a:spcPts val="1000"/>
              </a:spcAft>
              <a:defRPr sz="2400">
                <a:solidFill>
                  <a:srgbClr val="242834"/>
                </a:solidFill>
                <a:latin typeface="Avenir Next"/>
              </a:defRPr>
            </a:pPr>
            <a:r>
              <a:t>• BERT/GPT 계열 LLM 아키텍처의 기반 확립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911095"/>
            <a:ext cx="608075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C8C"/>
                </a:solidFill>
                <a:latin typeface="Avenir Next"/>
              </a:defRPr>
            </a:pPr>
            <a:r>
              <a:t>Executive summary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783080"/>
            <a:ext cx="4069080" cy="4114800"/>
          </a:xfrm>
          <a:prstGeom prst="roundRect">
            <a:avLst>
              <a:gd name="adj" fmla="val 7000"/>
            </a:avLst>
          </a:prstGeom>
          <a:solidFill>
            <a:srgbClr val="F8F0FF"/>
          </a:solidFill>
          <a:ln w="1524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64592" tIns="594360" bIns="128016"/>
          <a:lstStyle/>
          <a:p>
            <a:pPr algn="ctr">
              <a:spcAft>
                <a:spcPts val="1000"/>
              </a:spcAft>
              <a:defRPr sz="2000">
                <a:solidFill>
                  <a:srgbClr val="242834"/>
                </a:solidFill>
                <a:latin typeface="Avenir Next"/>
              </a:defRPr>
            </a:pPr>
            <a:r>
              <a:t>• Transformer</a:t>
            </a:r>
          </a:p>
          <a:p>
            <a:pPr>
              <a:spcAft>
                <a:spcPts val="1000"/>
              </a:spcAft>
              <a:defRPr sz="2000">
                <a:solidFill>
                  <a:srgbClr val="242834"/>
                </a:solidFill>
                <a:latin typeface="Avenir Next"/>
              </a:defRPr>
            </a:pPr>
            <a:r>
              <a:t>• Multi-Head Attention</a:t>
            </a:r>
          </a:p>
          <a:p>
            <a:pPr>
              <a:spcAft>
                <a:spcPts val="1000"/>
              </a:spcAft>
              <a:defRPr sz="2000">
                <a:solidFill>
                  <a:srgbClr val="242834"/>
                </a:solidFill>
                <a:latin typeface="Avenir Next"/>
              </a:defRPr>
            </a:pPr>
            <a:r>
              <a:t>• Positional Encoding</a:t>
            </a:r>
          </a:p>
          <a:p>
            <a:pPr>
              <a:spcAft>
                <a:spcPts val="1000"/>
              </a:spcAft>
              <a:defRPr sz="2000">
                <a:solidFill>
                  <a:srgbClr val="242834"/>
                </a:solidFill>
                <a:latin typeface="Avenir Next"/>
              </a:defRPr>
            </a:pPr>
            <a:r>
              <a:t>• Scaling law 이전의 구조 혁신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0376" y="1911095"/>
            <a:ext cx="3657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C8C"/>
                </a:solidFill>
                <a:latin typeface="Avenir Next"/>
              </a:defRPr>
            </a:pPr>
            <a:r>
              <a:t>Key terms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7395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E6B8E"/>
                </a:solidFill>
                <a:latin typeface="Avenir Next"/>
              </a:defRPr>
            </a:pPr>
            <a:r>
              <a:t>OpenClaw styled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6473952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E6B8E"/>
                </a:solidFill>
                <a:latin typeface="Avenir Next"/>
              </a:defRPr>
            </a:pPr>
            <a:r>
              <a:t>Attention Is All You Need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52560" y="54864"/>
            <a:ext cx="2834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BF0FF"/>
                </a:solidFill>
                <a:latin typeface="Avenir Next"/>
              </a:defRPr>
            </a:pPr>
            <a:r>
              <a:t>AIAYN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02920"/>
            <a:ext cx="98755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>
                <a:solidFill>
                  <a:srgbClr val="0E2050"/>
                </a:solidFill>
                <a:latin typeface="Avenir Next"/>
              </a:defRPr>
            </a:pPr>
            <a:r>
              <a:t>Why this paper mattered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5E6B8E"/>
                </a:solidFill>
                <a:latin typeface="Avenir Next"/>
              </a:defRPr>
            </a:pPr>
            <a:r>
              <a:t>문제 정의와 접근 전환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486400" cy="4434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64592" tIns="502920" bIns="128016"/>
          <a:lstStyle/>
          <a:p>
            <a:pPr algn="ctr">
              <a:spcAft>
                <a:spcPts val="1000"/>
              </a:spcAft>
              <a:defRPr sz="2100">
                <a:solidFill>
                  <a:srgbClr val="242834"/>
                </a:solidFill>
                <a:latin typeface="Avenir Next"/>
              </a:defRPr>
            </a:pPr>
            <a:r>
              <a:t>• RNN Seq2Seq의 장거리 의존성 학습 한계</a:t>
            </a:r>
          </a:p>
          <a:p>
            <a:pPr>
              <a:spcAft>
                <a:spcPts val="1000"/>
              </a:spcAft>
              <a:defRPr sz="2100">
                <a:solidFill>
                  <a:srgbClr val="242834"/>
                </a:solidFill>
                <a:latin typeface="Avenir Next"/>
              </a:defRPr>
            </a:pPr>
            <a:r>
              <a:t>• 학습이 순차적으로 진행되어 병렬화가 제한</a:t>
            </a:r>
          </a:p>
          <a:p>
            <a:pPr>
              <a:spcAft>
                <a:spcPts val="1000"/>
              </a:spcAft>
              <a:defRPr sz="2100">
                <a:solidFill>
                  <a:srgbClr val="242834"/>
                </a:solidFill>
                <a:latin typeface="Avenir Next"/>
              </a:defRPr>
            </a:pPr>
            <a:r>
              <a:t>• 큰 데이터/모델로 확장 시 비용이 급격히 증가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911095"/>
            <a:ext cx="5074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C8C"/>
                </a:solidFill>
                <a:latin typeface="Avenir Next"/>
              </a:defRPr>
            </a:pPr>
            <a:r>
              <a:t>Before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783080"/>
            <a:ext cx="5074920" cy="4434840"/>
          </a:xfrm>
          <a:prstGeom prst="roundRect">
            <a:avLst>
              <a:gd name="adj" fmla="val 7000"/>
            </a:avLst>
          </a:prstGeom>
          <a:solidFill>
            <a:srgbClr val="F8F0FF"/>
          </a:solidFill>
          <a:ln w="1524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64592" tIns="502920" bIns="128016"/>
          <a:lstStyle/>
          <a:p>
            <a:pPr algn="ctr">
              <a:spcAft>
                <a:spcPts val="1000"/>
              </a:spcAft>
              <a:defRPr sz="2100">
                <a:solidFill>
                  <a:srgbClr val="242834"/>
                </a:solidFill>
                <a:latin typeface="Avenir Next"/>
              </a:defRPr>
            </a:pPr>
            <a:r>
              <a:t>• Attention-only 구조로 토큰 간 관계를 직접 계산</a:t>
            </a:r>
          </a:p>
          <a:p>
            <a:pPr>
              <a:spcAft>
                <a:spcPts val="1000"/>
              </a:spcAft>
              <a:defRPr sz="2100">
                <a:solidFill>
                  <a:srgbClr val="242834"/>
                </a:solidFill>
                <a:latin typeface="Avenir Next"/>
              </a:defRPr>
            </a:pPr>
            <a:r>
              <a:t>• 병렬 계산 친화적 구조로 학습 속도/효율 개선</a:t>
            </a:r>
          </a:p>
          <a:p>
            <a:pPr>
              <a:spcAft>
                <a:spcPts val="1000"/>
              </a:spcAft>
              <a:defRPr sz="2100">
                <a:solidFill>
                  <a:srgbClr val="242834"/>
                </a:solidFill>
                <a:latin typeface="Avenir Next"/>
              </a:defRPr>
            </a:pPr>
            <a:r>
              <a:t>• 대규모 사전학습 아키텍처의 기반 제공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4536" y="1911095"/>
            <a:ext cx="4663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C8C"/>
                </a:solidFill>
                <a:latin typeface="Avenir Next"/>
              </a:defRPr>
            </a:pPr>
            <a: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7395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E6B8E"/>
                </a:solidFill>
                <a:latin typeface="Avenir Next"/>
              </a:defRPr>
            </a:pPr>
            <a:r>
              <a:t>OpenClaw styled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6473952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E6B8E"/>
                </a:solidFill>
                <a:latin typeface="Avenir Next"/>
              </a:defRPr>
            </a:pPr>
            <a:r>
              <a:t>Attention Is All You Need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52560" y="54864"/>
            <a:ext cx="2834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BF0FF"/>
                </a:solidFill>
                <a:latin typeface="Avenir Next"/>
              </a:defRPr>
            </a:pPr>
            <a:r>
              <a:t>AIAYN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02920"/>
            <a:ext cx="98755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>
                <a:solidFill>
                  <a:srgbClr val="0E2050"/>
                </a:solidFill>
                <a:latin typeface="Avenir Next"/>
              </a:defRPr>
            </a:pPr>
            <a:r>
              <a:t>Architecture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5E6B8E"/>
                </a:solidFill>
                <a:latin typeface="Avenir Next"/>
              </a:defRPr>
            </a:pPr>
            <a:r>
              <a:t>Transformer 구성 요소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486400" cy="4434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64592" tIns="502920" bIns="128016"/>
          <a:lstStyle/>
          <a:p>
            <a:pPr algn="ctr">
              <a:spcAft>
                <a:spcPts val="1000"/>
              </a:spcAft>
              <a:defRPr sz="2100">
                <a:solidFill>
                  <a:srgbClr val="242834"/>
                </a:solidFill>
                <a:latin typeface="Avenir Next"/>
              </a:defRPr>
            </a:pPr>
            <a:r>
              <a:t>• 블록을 반복 적층해 표현력을 확장</a:t>
            </a:r>
          </a:p>
          <a:p>
            <a:pPr>
              <a:spcAft>
                <a:spcPts val="1000"/>
              </a:spcAft>
              <a:defRPr sz="2100">
                <a:solidFill>
                  <a:srgbClr val="242834"/>
                </a:solidFill>
                <a:latin typeface="Avenir Next"/>
              </a:defRPr>
            </a:pPr>
            <a:r>
              <a:t>• Residual + LayerNorm으로 안정적 학습</a:t>
            </a:r>
          </a:p>
          <a:p>
            <a:pPr>
              <a:spcAft>
                <a:spcPts val="1000"/>
              </a:spcAft>
              <a:defRPr sz="2100">
                <a:solidFill>
                  <a:srgbClr val="242834"/>
                </a:solidFill>
                <a:latin typeface="Avenir Next"/>
              </a:defRPr>
            </a:pPr>
            <a:r>
              <a:t>• Position-wise FFN으로 비선형 변환 강화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911095"/>
            <a:ext cx="5074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C8C"/>
                </a:solidFill>
                <a:latin typeface="Avenir Next"/>
              </a:defRPr>
            </a:pPr>
            <a:r>
              <a:t>Encoder / Decoder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783080"/>
            <a:ext cx="5074920" cy="4434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64592" tIns="502920" bIns="128016"/>
          <a:lstStyle/>
          <a:p>
            <a:pPr algn="ctr">
              <a:spcAft>
                <a:spcPts val="1000"/>
              </a:spcAft>
              <a:defRPr sz="2100">
                <a:solidFill>
                  <a:srgbClr val="242834"/>
                </a:solidFill>
                <a:latin typeface="Avenir Next"/>
              </a:defRPr>
            </a:pPr>
            <a:r>
              <a:t>• 서로 다른 head가 서로 다른 패턴 포착</a:t>
            </a:r>
          </a:p>
          <a:p>
            <a:pPr>
              <a:spcAft>
                <a:spcPts val="1000"/>
              </a:spcAft>
              <a:defRPr sz="2100">
                <a:solidFill>
                  <a:srgbClr val="242834"/>
                </a:solidFill>
                <a:latin typeface="Avenir Next"/>
              </a:defRPr>
            </a:pPr>
            <a:r>
              <a:t>• 지역/전역 문맥을 동시에 반영</a:t>
            </a:r>
          </a:p>
          <a:p>
            <a:pPr>
              <a:spcAft>
                <a:spcPts val="1000"/>
              </a:spcAft>
              <a:defRPr sz="2100">
                <a:solidFill>
                  <a:srgbClr val="242834"/>
                </a:solidFill>
                <a:latin typeface="Avenir Next"/>
              </a:defRPr>
            </a:pPr>
            <a:r>
              <a:t>• 문법적/의미적 관계를 병렬로 학습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4536" y="1911095"/>
            <a:ext cx="4663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C8C"/>
                </a:solidFill>
                <a:latin typeface="Avenir Next"/>
              </a:defRPr>
            </a:pPr>
            <a:r>
              <a:t>Multi-Head Self-Attention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7395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E6B8E"/>
                </a:solidFill>
                <a:latin typeface="Avenir Next"/>
              </a:defRPr>
            </a:pPr>
            <a:r>
              <a:t>OpenClaw styled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6473952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E6B8E"/>
                </a:solidFill>
                <a:latin typeface="Avenir Next"/>
              </a:defRPr>
            </a:pPr>
            <a:r>
              <a:t>Attention Is All You Need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52560" y="54864"/>
            <a:ext cx="2834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BF0FF"/>
                </a:solidFill>
                <a:latin typeface="Avenir Next"/>
              </a:defRPr>
            </a:pPr>
            <a:r>
              <a:t>AIAYN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02920"/>
            <a:ext cx="98755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>
                <a:solidFill>
                  <a:srgbClr val="0E2050"/>
                </a:solidFill>
                <a:latin typeface="Avenir Next"/>
              </a:defRPr>
            </a:pPr>
            <a:r>
              <a:t>Core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5E6B8E"/>
                </a:solidFill>
                <a:latin typeface="Avenir Next"/>
              </a:defRPr>
            </a:pPr>
            <a:r>
              <a:t>Scaled Dot-Product Attention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0972800" cy="4480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911095"/>
            <a:ext cx="10561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C8C"/>
                </a:solidFill>
                <a:latin typeface="Avenir Next"/>
              </a:defRPr>
            </a:pPr>
            <a:r>
              <a:t>Attention block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C8C"/>
                </a:solidFill>
                <a:latin typeface="Menlo"/>
              </a:defRPr>
            </a:pPr>
            <a:r>
              <a:t>Attention(Q, K, V) = softmax(QK^T / sqrt(d_k))V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42834"/>
                </a:solidFill>
                <a:latin typeface="Avenir Next"/>
              </a:defRPr>
            </a:pPr>
            <a:r>
              <a:t>• QK^T로 토큰 간 관련도를 계산하고, softmax로 가중치를 정규화</a:t>
            </a:r>
          </a:p>
          <a:p>
            <a:pPr>
              <a:spcAft>
                <a:spcPts val="1200"/>
              </a:spcAft>
              <a:defRPr sz="2200">
                <a:solidFill>
                  <a:srgbClr val="242834"/>
                </a:solidFill>
                <a:latin typeface="Avenir Next"/>
              </a:defRPr>
            </a:pPr>
            <a:r>
              <a:t>• sqrt(d_k) 스케일링으로 학습 안정성과 gradient 품질 개선</a:t>
            </a:r>
          </a:p>
          <a:p>
            <a:pPr>
              <a:spcAft>
                <a:spcPts val="1200"/>
              </a:spcAft>
              <a:defRPr sz="2200">
                <a:solidFill>
                  <a:srgbClr val="242834"/>
                </a:solidFill>
                <a:latin typeface="Avenir Next"/>
              </a:defRPr>
            </a:pPr>
            <a:r>
              <a:t>• 여러 head를 병렬 적용해 다양한 관계(문법/의미/장거리)를 동시에 포착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7395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E6B8E"/>
                </a:solidFill>
                <a:latin typeface="Avenir Next"/>
              </a:defRPr>
            </a:pPr>
            <a:r>
              <a:t>OpenClaw styled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6473952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E6B8E"/>
                </a:solidFill>
                <a:latin typeface="Avenir Next"/>
              </a:defRPr>
            </a:pPr>
            <a:r>
              <a:t>Attention Is All You Need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52560" y="54864"/>
            <a:ext cx="2834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BF0FF"/>
                </a:solidFill>
                <a:latin typeface="Avenir Next"/>
              </a:defRPr>
            </a:pPr>
            <a:r>
              <a:t>AIAYN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02920"/>
            <a:ext cx="98755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>
                <a:solidFill>
                  <a:srgbClr val="0E2050"/>
                </a:solidFill>
                <a:latin typeface="Avenir Next"/>
              </a:defRPr>
            </a:pPr>
            <a:r>
              <a:t>Results and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5E6B8E"/>
                </a:solidFill>
                <a:latin typeface="Avenir Next"/>
              </a:defRPr>
            </a:pPr>
            <a:r>
              <a:t>What changed in sequence modeling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0972800" cy="4434840"/>
          </a:xfrm>
          <a:prstGeom prst="roundRect">
            <a:avLst>
              <a:gd name="adj" fmla="val 7000"/>
            </a:avLst>
          </a:prstGeom>
          <a:solidFill>
            <a:srgbClr val="EBF8F0"/>
          </a:solidFill>
          <a:ln w="1524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tIns="566928"/>
          <a:lstStyle/>
          <a:p>
            <a:pPr algn="ctr">
              <a:spcAft>
                <a:spcPts val="1400"/>
              </a:spcAft>
              <a:defRPr sz="2400">
                <a:solidFill>
                  <a:srgbClr val="242834"/>
                </a:solidFill>
                <a:latin typeface="Avenir Next"/>
              </a:defRPr>
            </a:pPr>
            <a:r>
              <a:t>• Modeling center: Recurrence 중심에서 Attention 중심으로 전환</a:t>
            </a:r>
          </a:p>
          <a:p>
            <a:pPr>
              <a:spcAft>
                <a:spcPts val="1400"/>
              </a:spcAft>
              <a:defRPr sz="2400">
                <a:solidFill>
                  <a:srgbClr val="242834"/>
                </a:solidFill>
                <a:latin typeface="Avenir Next"/>
              </a:defRPr>
            </a:pPr>
            <a:r>
              <a:t>• Training efficiency: 순차 의존을 줄여 병렬 학습 효율 대폭 개선</a:t>
            </a:r>
          </a:p>
          <a:p>
            <a:pPr>
              <a:spcAft>
                <a:spcPts val="1400"/>
              </a:spcAft>
              <a:defRPr sz="2400">
                <a:solidFill>
                  <a:srgbClr val="242834"/>
                </a:solidFill>
                <a:latin typeface="Avenir Next"/>
              </a:defRPr>
            </a:pPr>
            <a:r>
              <a:t>• LLM foundation: BERT/GPT 등 현대 언어모델의 표준 backbone 확립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911095"/>
            <a:ext cx="10561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C8C"/>
                </a:solidFill>
                <a:latin typeface="Avenir Next"/>
              </a:defRPr>
            </a:pPr>
            <a:r>
              <a:t>Impact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E6B8E"/>
                </a:solidFill>
                <a:latin typeface="Avenir Next"/>
              </a:defRPr>
            </a:pPr>
            <a:r>
              <a:t>OpenClaw styled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6473952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E6B8E"/>
                </a:solidFill>
                <a:latin typeface="Avenir Next"/>
              </a:defRPr>
            </a:pPr>
            <a:r>
              <a:t>Attention Is All You Need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52560" y="54864"/>
            <a:ext cx="2834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BF0FF"/>
                </a:solidFill>
                <a:latin typeface="Avenir Next"/>
              </a:defRPr>
            </a:pPr>
            <a:r>
              <a:t>AIAYN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02920"/>
            <a:ext cx="98755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>
                <a:solidFill>
                  <a:srgbClr val="0E2050"/>
                </a:solidFill>
                <a:latin typeface="Avenir Next"/>
              </a:defRPr>
            </a:pPr>
            <a:r>
              <a:t>Limitations and follow-ups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5E6B8E"/>
                </a:solidFill>
                <a:latin typeface="Avenir Next"/>
              </a:defRPr>
            </a:pPr>
            <a:r>
              <a:t>현실적 제약과 후속 발전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486400" cy="4434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64592" tIns="502920" bIns="128016"/>
          <a:lstStyle/>
          <a:p>
            <a:pPr algn="ctr">
              <a:spcAft>
                <a:spcPts val="1000"/>
              </a:spcAft>
              <a:defRPr sz="2100">
                <a:solidFill>
                  <a:srgbClr val="242834"/>
                </a:solidFill>
                <a:latin typeface="Avenir Next"/>
              </a:defRPr>
            </a:pPr>
            <a:r>
              <a:t>• Self-Attention 비용이 O(n^2)로 증가</a:t>
            </a:r>
          </a:p>
          <a:p>
            <a:pPr>
              <a:spcAft>
                <a:spcPts val="1000"/>
              </a:spcAft>
              <a:defRPr sz="2100">
                <a:solidFill>
                  <a:srgbClr val="242834"/>
                </a:solidFill>
                <a:latin typeface="Avenir Next"/>
              </a:defRPr>
            </a:pPr>
            <a:r>
              <a:t>• 긴 문맥에서 메모리/연산 부담이 큼</a:t>
            </a:r>
          </a:p>
          <a:p>
            <a:pPr>
              <a:spcAft>
                <a:spcPts val="1000"/>
              </a:spcAft>
              <a:defRPr sz="2100">
                <a:solidFill>
                  <a:srgbClr val="242834"/>
                </a:solidFill>
                <a:latin typeface="Avenir Next"/>
              </a:defRPr>
            </a:pPr>
            <a:r>
              <a:t>• 실무 배포 시 latency/throughput 이슈 발생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911095"/>
            <a:ext cx="5074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C8C"/>
                </a:solidFill>
                <a:latin typeface="Avenir Next"/>
              </a:defRPr>
            </a:pPr>
            <a:r>
              <a:t>Known limits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783080"/>
            <a:ext cx="5074920" cy="4434840"/>
          </a:xfrm>
          <a:prstGeom prst="roundRect">
            <a:avLst>
              <a:gd name="adj" fmla="val 7000"/>
            </a:avLst>
          </a:prstGeom>
          <a:solidFill>
            <a:srgbClr val="EBF8F0"/>
          </a:solidFill>
          <a:ln w="1524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64592" tIns="502920" bIns="128016"/>
          <a:lstStyle/>
          <a:p>
            <a:pPr algn="ctr">
              <a:spcAft>
                <a:spcPts val="1000"/>
              </a:spcAft>
              <a:defRPr sz="2100">
                <a:solidFill>
                  <a:srgbClr val="242834"/>
                </a:solidFill>
                <a:latin typeface="Avenir Next"/>
              </a:defRPr>
            </a:pPr>
            <a:r>
              <a:t>• Sparse / Linear Attention 계열</a:t>
            </a:r>
          </a:p>
          <a:p>
            <a:pPr>
              <a:spcAft>
                <a:spcPts val="1000"/>
              </a:spcAft>
              <a:defRPr sz="2100">
                <a:solidFill>
                  <a:srgbClr val="242834"/>
                </a:solidFill>
                <a:latin typeface="Avenir Next"/>
              </a:defRPr>
            </a:pPr>
            <a:r>
              <a:t>• FlashAttention 기반 최적화</a:t>
            </a:r>
          </a:p>
          <a:p>
            <a:pPr>
              <a:spcAft>
                <a:spcPts val="1000"/>
              </a:spcAft>
              <a:defRPr sz="2100">
                <a:solidFill>
                  <a:srgbClr val="242834"/>
                </a:solidFill>
                <a:latin typeface="Avenir Next"/>
              </a:defRPr>
            </a:pPr>
            <a:r>
              <a:t>• Long-context 처리 기술 지속 발전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4536" y="1911095"/>
            <a:ext cx="4663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C8C"/>
                </a:solidFill>
                <a:latin typeface="Avenir Next"/>
              </a:defRPr>
            </a:pPr>
            <a:r>
              <a:t>Follow-up 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7395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E6B8E"/>
                </a:solidFill>
                <a:latin typeface="Avenir Next"/>
              </a:defRPr>
            </a:pPr>
            <a:r>
              <a:t>OpenClaw styled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6473952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E6B8E"/>
                </a:solidFill>
                <a:latin typeface="Avenir Next"/>
              </a:defRPr>
            </a:pPr>
            <a:r>
              <a:t>Attention Is All You Need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52560" y="54864"/>
            <a:ext cx="2834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BF0FF"/>
                </a:solidFill>
                <a:latin typeface="Avenir Next"/>
              </a:defRPr>
            </a:pPr>
            <a:r>
              <a:t>AIAYN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02920"/>
            <a:ext cx="98755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>
                <a:solidFill>
                  <a:srgbClr val="0E2050"/>
                </a:solidFill>
                <a:latin typeface="Avenir Next"/>
              </a:defRPr>
            </a:pPr>
            <a: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5E6B8E"/>
                </a:solidFill>
                <a:latin typeface="Avenir Next"/>
              </a:defRPr>
            </a:pPr>
            <a:r>
              <a:t>실무/연구 적용 관점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486400" cy="4434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64592" tIns="502920" bIns="128016"/>
          <a:lstStyle/>
          <a:p>
            <a:pPr algn="ctr">
              <a:spcAft>
                <a:spcPts val="1000"/>
              </a:spcAft>
              <a:defRPr sz="2100">
                <a:solidFill>
                  <a:srgbClr val="242834"/>
                </a:solidFill>
                <a:latin typeface="Avenir Next"/>
              </a:defRPr>
            </a:pPr>
            <a:r>
              <a:t>• Transformer 이해는 LLM 이해의 핵심 출발점</a:t>
            </a:r>
          </a:p>
          <a:p>
            <a:pPr>
              <a:spcAft>
                <a:spcPts val="1000"/>
              </a:spcAft>
              <a:defRPr sz="2100">
                <a:solidFill>
                  <a:srgbClr val="242834"/>
                </a:solidFill>
                <a:latin typeface="Avenir Next"/>
              </a:defRPr>
            </a:pPr>
            <a:r>
              <a:t>• 모델 품질과 계산 효율을 함께 평가해야 함</a:t>
            </a:r>
          </a:p>
          <a:p>
            <a:pPr>
              <a:spcAft>
                <a:spcPts val="1000"/>
              </a:spcAft>
              <a:defRPr sz="2100">
                <a:solidFill>
                  <a:srgbClr val="242834"/>
                </a:solidFill>
                <a:latin typeface="Avenir Next"/>
              </a:defRPr>
            </a:pPr>
            <a:r>
              <a:t>• Attention/Position 설계가 성능을 크게 좌우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911095"/>
            <a:ext cx="5074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C8C"/>
                </a:solidFill>
                <a:latin typeface="Avenir Next"/>
              </a:defRPr>
            </a:pPr>
            <a:r>
              <a:t>What to remember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783080"/>
            <a:ext cx="5074920" cy="4434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64592" tIns="502920" bIns="128016"/>
          <a:lstStyle/>
          <a:p>
            <a:pPr algn="ctr">
              <a:spcAft>
                <a:spcPts val="1000"/>
              </a:spcAft>
              <a:defRPr sz="2100">
                <a:solidFill>
                  <a:srgbClr val="242834"/>
                </a:solidFill>
                <a:latin typeface="Avenir Next"/>
              </a:defRPr>
            </a:pPr>
            <a:r>
              <a:t>• 논문 읽기 시 구조·연산량·확장성을 함께 본다</a:t>
            </a:r>
          </a:p>
          <a:p>
            <a:pPr>
              <a:spcAft>
                <a:spcPts val="1000"/>
              </a:spcAft>
              <a:defRPr sz="2100">
                <a:solidFill>
                  <a:srgbClr val="242834"/>
                </a:solidFill>
                <a:latin typeface="Avenir Next"/>
              </a:defRPr>
            </a:pPr>
            <a:r>
              <a:t>• 실험 설계에 효율 지표(latency/memory) 포함</a:t>
            </a:r>
          </a:p>
          <a:p>
            <a:pPr>
              <a:spcAft>
                <a:spcPts val="1000"/>
              </a:spcAft>
              <a:defRPr sz="2100">
                <a:solidFill>
                  <a:srgbClr val="242834"/>
                </a:solidFill>
                <a:latin typeface="Avenir Next"/>
              </a:defRPr>
            </a:pPr>
            <a:r>
              <a:t>• 후속 연구와 연결해 구현 선택지 비교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4536" y="1911095"/>
            <a:ext cx="46634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C8C"/>
                </a:solidFill>
                <a:latin typeface="Avenir Next"/>
              </a:defRPr>
            </a:pPr>
            <a:r>
              <a:t>How to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7395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E6B8E"/>
                </a:solidFill>
                <a:latin typeface="Avenir Next"/>
              </a:defRPr>
            </a:pPr>
            <a:r>
              <a:t>OpenClaw styled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6473952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E6B8E"/>
                </a:solidFill>
                <a:latin typeface="Avenir Next"/>
              </a:defRPr>
            </a:pPr>
            <a:r>
              <a:t>Attention Is All You Need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
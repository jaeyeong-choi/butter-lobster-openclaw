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1143000"/>
            <a:ext cx="104698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AFC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502920"/>
          <a:lstStyle/>
          <a:p>
            <a:pPr algn="ctr">
              <a:defRPr sz="5000" b="1">
                <a:solidFill>
                  <a:srgbClr val="FFFFFF"/>
                </a:solidFill>
                <a:latin typeface="Apple SD Gothic Neo"/>
              </a:defRPr>
            </a:pPr>
            <a:r>
              <a:t>Attention Is All You Need</a:t>
            </a:r>
          </a:p>
          <a:p>
            <a:pPr>
              <a:defRPr sz="2100">
                <a:solidFill>
                  <a:srgbClr val="DCE6FA"/>
                </a:solidFill>
                <a:latin typeface="Apple SD Gothic Neo"/>
              </a:defRPr>
            </a:pPr>
            <a:r>
              <a:t>report-template visual language adapted for slides</a:t>
            </a:r>
          </a:p>
          <a:p>
            <a:pPr>
              <a:defRPr sz="1600">
                <a:solidFill>
                  <a:srgbClr val="CFDDFF"/>
                </a:solidFill>
                <a:latin typeface="Apple SD Gothic Neo"/>
              </a:defRPr>
            </a:pPr>
            <a:r>
              <a:t>Self-Attention  ·  Parallel Training  ·  LLM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6437376"/>
            <a:ext cx="5394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512064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Why this paper mattered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from recurrence bottlenecks to attention-first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437376"/>
            <a:ext cx="5394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Long-range dependency learning was difficult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Sequential computation limited parallelism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Scaling up caused high training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Before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755648"/>
            <a:ext cx="5193792" cy="4389120"/>
          </a:xfrm>
          <a:prstGeom prst="roundRect">
            <a:avLst>
              <a:gd name="adj" fmla="val 5000"/>
            </a:avLst>
          </a:prstGeom>
          <a:solidFill>
            <a:srgbClr val="FFF7EB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Attention directly models token relations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Architecture is naturally parallelizable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Foundation for modern large language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65376"/>
            <a:ext cx="48280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After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512064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Architecture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encoder/decoder + self-attention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437376"/>
            <a:ext cx="5394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863072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104973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0704" y="3054096"/>
            <a:ext cx="2103120" cy="1133856"/>
          </a:xfrm>
          <a:prstGeom prst="roundRect">
            <a:avLst/>
          </a:prstGeom>
          <a:solidFill>
            <a:srgbClr val="F8F0FF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Embedding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1024" y="3054096"/>
            <a:ext cx="2103120" cy="1133856"/>
          </a:xfrm>
          <a:prstGeom prst="roundRect">
            <a:avLst/>
          </a:prstGeom>
          <a:solidFill>
            <a:srgbClr val="EBF8F0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Multi-Head</a:t>
            </a:r>
            <a:br/>
            <a:r>
              <a:t>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054096"/>
            <a:ext cx="2103120" cy="1133856"/>
          </a:xfrm>
          <a:prstGeom prst="roundRect">
            <a:avLst/>
          </a:prstGeom>
          <a:solidFill>
            <a:srgbClr val="F8F0FF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FFN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41663" y="3054096"/>
            <a:ext cx="2103120" cy="1133856"/>
          </a:xfrm>
          <a:prstGeom prst="roundRect">
            <a:avLst/>
          </a:prstGeom>
          <a:solidFill>
            <a:srgbClr val="EBF8F0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Output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00400" y="3401568"/>
            <a:ext cx="384048" cy="329184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760720" y="3401568"/>
            <a:ext cx="384048" cy="329184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321040" y="3401568"/>
            <a:ext cx="384048" cy="329184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512064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Core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scaled dot-product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437376"/>
            <a:ext cx="5394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863072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104973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Attention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40864"/>
            <a:ext cx="1033272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C8C"/>
                </a:solidFill>
                <a:latin typeface="Apple SD Gothic Neo"/>
              </a:defRPr>
            </a:pPr>
            <a:r>
              <a:t>Attention(Q, K, V) = softmax(QK^T / sqrt(d_k))V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10332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QK^T computes token-to-token relevance</a:t>
            </a:r>
          </a:p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sqrt(d_k) scaling improves optimization stability</a:t>
            </a:r>
          </a:p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Weighted V aggregation builds contextual representation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512064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Results and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report-style table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437376"/>
            <a:ext cx="5394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863072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32688" y="2103120"/>
          <a:ext cx="103327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7818120"/>
              </a:tblGrid>
              <a:tr h="83439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Shift from recurrence-centric to attention-centric sequence modeling</a:t>
                      </a:r>
                    </a:p>
                  </a:txBody>
                  <a:tcPr/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Substantially improved parallel training characteristics</a:t>
                      </a:r>
                    </a:p>
                  </a:txBody>
                  <a:tcPr/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Established backbone used by BERT/GPT and modern LLM families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512064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Limitations and follow-ups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what remains challenging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437376"/>
            <a:ext cx="5394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Self-attention cost grows quadratically with sequence length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Long-context settings increase memory and latency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Deployment requires careful efficiency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Known limits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755648"/>
            <a:ext cx="5193792" cy="4389120"/>
          </a:xfrm>
          <a:prstGeom prst="roundRect">
            <a:avLst>
              <a:gd name="adj" fmla="val 5000"/>
            </a:avLst>
          </a:prstGeom>
          <a:solidFill>
            <a:srgbClr val="EBF8F0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/>
          <a:lstStyle/>
          <a:p>
            <a:pPr algn="ctr"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Sparse / Linear Attention variants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FlashAttention-style kernel optimizations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Long-context specialized architecture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65376"/>
            <a:ext cx="4828031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Follow-up 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512064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three points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437376"/>
            <a:ext cx="5394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863072" cy="4389120"/>
          </a:xfrm>
          <a:prstGeom prst="roundRect">
            <a:avLst>
              <a:gd name="adj" fmla="val 5000"/>
            </a:avLst>
          </a:prstGeom>
          <a:solidFill>
            <a:srgbClr val="F8F0FF"/>
          </a:solidFill>
          <a:ln w="13335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tIns="658368"/>
          <a:lstStyle/>
          <a:p>
            <a:pPr algn="ctr">
              <a:spcAft>
                <a:spcPts val="1200"/>
              </a:spcAft>
              <a:defRPr sz="2600" b="1">
                <a:solidFill>
                  <a:srgbClr val="0E2050"/>
                </a:solidFill>
                <a:latin typeface="Apple SD Gothic Neo"/>
              </a:defRPr>
            </a:pPr>
            <a:r>
              <a:t>1. Transformer literacy is core LLM literacy.</a:t>
            </a:r>
          </a:p>
          <a:p>
            <a:pPr>
              <a:spcAft>
                <a:spcPts val="1200"/>
              </a:spcAft>
              <a:defRPr sz="2600" b="1">
                <a:solidFill>
                  <a:srgbClr val="0E2050"/>
                </a:solidFill>
                <a:latin typeface="Apple SD Gothic Neo"/>
              </a:defRPr>
            </a:pPr>
            <a:r>
              <a:t>2. Model quality and efficiency should be optimized together.</a:t>
            </a:r>
          </a:p>
          <a:p>
            <a:pPr>
              <a:spcAft>
                <a:spcPts val="1200"/>
              </a:spcAft>
              <a:defRPr sz="2600" b="1">
                <a:solidFill>
                  <a:srgbClr val="0E2050"/>
                </a:solidFill>
                <a:latin typeface="Apple SD Gothic Neo"/>
              </a:defRPr>
            </a:pPr>
            <a:r>
              <a:t>3. Attention design choices strongly shape capability.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104973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Final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
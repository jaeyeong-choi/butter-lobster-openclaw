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0" y="8686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E6FA"/>
                </a:solidFill>
                <a:latin typeface="Apple SD Gothic Neo"/>
              </a:defRPr>
            </a:pPr>
            <a:r>
              <a:t>ORGANIZATION /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25880"/>
            <a:ext cx="8549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AAB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4400" b="1">
                <a:solidFill>
                  <a:srgbClr val="FFFFFF"/>
                </a:solidFill>
                <a:latin typeface="Apple SD Gothic Neo"/>
              </a:defRPr>
            </a:pPr>
            <a:r>
              <a:t>Attention Is All You Need</a:t>
            </a:r>
          </a:p>
          <a:p>
            <a:pPr algn="ctr">
              <a:defRPr sz="2000">
                <a:solidFill>
                  <a:srgbClr val="DCE6FA"/>
                </a:solidFill>
                <a:latin typeface="Apple SD Gothic Neo"/>
              </a:defRPr>
            </a:pPr>
            <a:r>
              <a:t>Transformer Architecture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3749039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CE6FA"/>
                </a:solidFill>
                <a:latin typeface="Apple SD Gothic Neo"/>
              </a:defRPr>
            </a:pPr>
            <a:r>
              <a:t>2026년 03월 연구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4434840"/>
            <a:ext cx="62179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CE6FA"/>
                </a:solidFill>
                <a:latin typeface="Apple SD Gothic Neo"/>
              </a:defRPr>
            </a:pPr>
            <a:r>
              <a:t>작성: Jaeyeong CHOI</a:t>
            </a:r>
          </a:p>
          <a:p>
            <a:pPr algn="ctr">
              <a:defRPr sz="1600">
                <a:solidFill>
                  <a:srgbClr val="DCE6FA"/>
                </a:solidFill>
                <a:latin typeface="Apple SD Gothic Neo"/>
              </a:defRPr>
            </a:pPr>
            <a:r>
              <a:t>소속: DGIST</a:t>
            </a:r>
          </a:p>
          <a:p>
            <a:pPr algn="ctr">
              <a:defRPr sz="1600">
                <a:solidFill>
                  <a:srgbClr val="DCE6FA"/>
                </a:solidFill>
                <a:latin typeface="Apple SD Gothic Neo"/>
              </a:defRPr>
            </a:pPr>
            <a:r>
              <a:t>주제: Attention Is All You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PROJECT | ORG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연구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한 문장 요약과 핵심 메시지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55648"/>
            <a:ext cx="10972800" cy="1874519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02920"/>
          <a:lstStyle/>
          <a:p>
            <a:pPr algn="ctr">
              <a:spcAft>
                <a:spcPts val="800"/>
              </a:spcAft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RNN/CNN 없이 Self-Attention 중심 구조를 제안</a:t>
            </a:r>
          </a:p>
          <a:p>
            <a:pPr>
              <a:spcAft>
                <a:spcPts val="800"/>
              </a:spcAft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학습 병렬화를 크게 향상해 대규모 학습 기반을 마련</a:t>
            </a:r>
          </a:p>
          <a:p>
            <a:pPr>
              <a:spcAft>
                <a:spcPts val="800"/>
              </a:spcAft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현대 LLM 아키텍처의 출발점 역할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865376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핵심 요약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9476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FF7EB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장거리 의존성 학습 어려움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순차 처리의 병렬화 한계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학습 비용 증가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904488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26414"/>
                </a:solidFill>
                <a:latin typeface="Apple SD Gothic Neo"/>
              </a:defRPr>
            </a:pPr>
            <a:r>
              <a:t>문제의식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79476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8F0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Attention-only 구조 채택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직접적 토큰 관계 계산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확장 가능한 학습 패턴 제공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904488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43296"/>
                </a:solidFill>
                <a:latin typeface="Apple SD Gothic Neo"/>
              </a:defRPr>
            </a:pPr>
            <a:r>
              <a:t>핵심 전환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PROJECT | ORG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핵심 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Transformer 인코더-디코더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55648"/>
            <a:ext cx="10972800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865376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017520"/>
            <a:ext cx="2103120" cy="1115568"/>
          </a:xfrm>
          <a:prstGeom prst="roundRect">
            <a:avLst/>
          </a:prstGeom>
          <a:solidFill>
            <a:srgbClr val="F8F0FF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0E2050"/>
                </a:solidFill>
                <a:latin typeface="Apple SD Gothic Neo"/>
              </a:defRPr>
            </a:pPr>
            <a:r>
              <a:t>Embedding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79" y="3017520"/>
            <a:ext cx="2103120" cy="1115568"/>
          </a:xfrm>
          <a:prstGeom prst="roundRect">
            <a:avLst/>
          </a:prstGeom>
          <a:solidFill>
            <a:srgbClr val="EBF8F0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0E2050"/>
                </a:solidFill>
                <a:latin typeface="Apple SD Gothic Neo"/>
              </a:defRPr>
            </a:pPr>
            <a:r>
              <a:t>Multi-Head</a:t>
            </a:r>
            <a:br/>
            <a:r>
              <a:t>Attention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017520"/>
            <a:ext cx="2103120" cy="1115568"/>
          </a:xfrm>
          <a:prstGeom prst="roundRect">
            <a:avLst/>
          </a:prstGeom>
          <a:solidFill>
            <a:srgbClr val="F8F0FF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0E2050"/>
                </a:solidFill>
                <a:latin typeface="Apple SD Gothic Neo"/>
              </a:defRPr>
            </a:pPr>
            <a:r>
              <a:t>FFN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19" y="3017520"/>
            <a:ext cx="2103120" cy="1115568"/>
          </a:xfrm>
          <a:prstGeom prst="roundRect">
            <a:avLst/>
          </a:prstGeom>
          <a:solidFill>
            <a:srgbClr val="EBF8F0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0E2050"/>
                </a:solidFill>
                <a:latin typeface="Apple SD Gothic Neo"/>
              </a:defRPr>
            </a:pPr>
            <a:r>
              <a:t>Output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91256" y="3383280"/>
            <a:ext cx="384048" cy="329184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751576" y="3383280"/>
            <a:ext cx="384048" cy="329184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311896" y="3383280"/>
            <a:ext cx="384048" cy="329184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572000"/>
            <a:ext cx="104241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Residual + LayerNorm + Position-wise FFN 조합으로 안정적 학습 및 표현력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PROJECT | ORG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핵심 연산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Scaled Dot-Product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55648"/>
            <a:ext cx="10972800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865376"/>
            <a:ext cx="10607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Attention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8C"/>
                </a:solidFill>
                <a:latin typeface="Apple SD Gothic Neo"/>
              </a:defRPr>
            </a:pPr>
            <a:r>
              <a:t>Attention(Q, K, V) = softmax(QK^T / sqrt(d_k))V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42416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QK^T로 토큰 간 관련도 계산</a:t>
            </a:r>
          </a:p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sqrt(d_k) 스케일링으로 softmax 안정화</a:t>
            </a:r>
          </a:p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V 가중합으로 문맥 표현 생성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PROJECT | ORG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결과와 영향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보고서 스타일 표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55648"/>
            <a:ext cx="10972800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14400" y="2084831"/>
          <a:ext cx="104241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863840"/>
              </a:tblGrid>
              <a:tr h="85039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Recurrence 중심에서 Attention 중심으로 전환</a:t>
                      </a:r>
                    </a:p>
                  </a:txBody>
                  <a:tcPr/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학습 병렬화 및 확장성 대폭 향상</a:t>
                      </a:r>
                    </a:p>
                  </a:txBody>
                  <a:tcPr/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BERT/GPT 등 현대 LLM 구조의 기반 확립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PROJECT | ORG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512064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93776"/>
            <a:ext cx="10012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2050"/>
                </a:solidFill>
                <a:latin typeface="Apple SD Gothic Neo"/>
              </a:defRPr>
            </a:pPr>
            <a:r>
              <a:t>한계와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1872" y="969264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042415"/>
            <a:ext cx="9875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626D8A"/>
                </a:solidFill>
                <a:latin typeface="Apple SD Gothic Neo"/>
              </a:defRPr>
            </a:pPr>
            <a:r>
              <a:t>실무 관점에서 기억할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6437376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55648"/>
            <a:ext cx="5486400" cy="4370832"/>
          </a:xfrm>
          <a:prstGeom prst="roundRect">
            <a:avLst>
              <a:gd name="adj" fmla="val 5000"/>
            </a:avLst>
          </a:prstGeom>
          <a:solidFill>
            <a:srgbClr val="FFF7EB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Self-Attention 비용은 시퀀스 길이에 따라 O(n^2)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긴 문맥에서 메모리/지연 비용 증가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배포 단계에서 효율 최적화 필수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865376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26414"/>
                </a:solidFill>
                <a:latin typeface="Apple SD Gothic Neo"/>
              </a:defRPr>
            </a:pPr>
            <a:r>
              <a:t>한계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1755648"/>
            <a:ext cx="5303520" cy="4370832"/>
          </a:xfrm>
          <a:prstGeom prst="roundRect">
            <a:avLst>
              <a:gd name="adj" fmla="val 5000"/>
            </a:avLst>
          </a:prstGeom>
          <a:solidFill>
            <a:srgbClr val="F8F0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Transformer 이해는 LLM 이해의 핵심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성능과 효율을 함께 최적화해야 함</a:t>
            </a:r>
          </a:p>
          <a:p>
            <a:pPr>
              <a:spcAft>
                <a:spcPts val="800"/>
              </a:spcAft>
              <a:defRPr sz="1800">
                <a:solidFill>
                  <a:srgbClr val="232632"/>
                </a:solidFill>
                <a:latin typeface="Apple SD Gothic Neo"/>
              </a:defRPr>
            </a:pPr>
            <a:r>
              <a:t>• Attention 설계 선택이 모델 역량을 좌우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865376"/>
            <a:ext cx="49377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43296"/>
                </a:solidFill>
                <a:latin typeface="Apple SD Gothic Neo"/>
              </a:defRPr>
            </a:pPr>
            <a:r>
              <a:t>요약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
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81228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9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000" b="1">
                <a:solidFill>
                  <a:srgbClr val="0E2050"/>
                </a:solidFill>
                <a:latin typeface="Avenir Next"/>
              </a:defRPr>
            </a:pPr>
            <a:r>
              <a:t>Attention Is All You Need</a:t>
            </a:r>
          </a:p>
          <a:p>
            <a:pPr>
              <a:defRPr sz="2400">
                <a:solidFill>
                  <a:srgbClr val="646E8A"/>
                </a:solidFill>
                <a:latin typeface="Avenir Next"/>
              </a:defRPr>
            </a:pPr>
            <a:r>
              <a:t>A design-aware concise briefing</a:t>
            </a:r>
          </a:p>
          <a:p>
            <a:pPr>
              <a:defRPr sz="2400">
                <a:solidFill>
                  <a:srgbClr val="1A3C8C"/>
                </a:solidFill>
                <a:latin typeface="Avenir Next"/>
              </a:defRPr>
            </a:pPr>
            <a:r>
              <a:t>Transformer의 출발점이 된 논문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2103120"/>
            <a:ext cx="3840480" cy="2194560"/>
          </a:xfrm>
          <a:prstGeom prst="rect">
            <a:avLst/>
          </a:prstGeom>
          <a:solidFill>
            <a:srgbClr val="EDF2FD"/>
          </a:solidFill>
          <a:ln>
            <a:solidFill>
              <a:srgbClr val="C1D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3C8C"/>
                </a:solidFill>
                <a:latin typeface="Avenir Next"/>
              </a:defRPr>
            </a:pPr>
            <a:r>
              <a:t>Key frame</a:t>
            </a:r>
          </a:p>
          <a:p>
            <a:pPr>
              <a:defRPr sz="1800">
                <a:solidFill>
                  <a:srgbClr val="262934"/>
                </a:solidFill>
                <a:latin typeface="Avenir Next"/>
              </a:defRPr>
            </a:pPr>
            <a:r>
              <a:t>• Self-Attention 중심 전환</a:t>
            </a:r>
          </a:p>
          <a:p>
            <a:pPr>
              <a:defRPr sz="1800">
                <a:solidFill>
                  <a:srgbClr val="262934"/>
                </a:solidFill>
                <a:latin typeface="Avenir Next"/>
              </a:defRPr>
            </a:pPr>
            <a:r>
              <a:t>• 병렬 학습 효율 개선</a:t>
            </a:r>
          </a:p>
          <a:p>
            <a:pPr>
              <a:defRPr sz="1800">
                <a:solidFill>
                  <a:srgbClr val="262934"/>
                </a:solidFill>
                <a:latin typeface="Avenir Next"/>
              </a:defRPr>
            </a:pPr>
            <a:r>
              <a:t>• BERT/GPT 기반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8A"/>
                </a:solidFill>
                <a:latin typeface="Avenir Next"/>
              </a:defRPr>
            </a:pPr>
            <a:r>
              <a:t>OpenClaw · AIAYN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2050"/>
                </a:solidFill>
                <a:latin typeface="Avenir Next"/>
              </a:defRPr>
            </a:pPr>
            <a:r>
              <a:t>Why this paper mattered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D9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>
                <a:solidFill>
                  <a:srgbClr val="262934"/>
                </a:solidFill>
                <a:latin typeface="Avenir Next"/>
              </a:defRPr>
            </a:pPr>
            <a:r>
              <a:t>RNN Seq2Seq의 장거리 의존성 학습 한계</a:t>
            </a:r>
          </a:p>
          <a:p>
            <a:pPr>
              <a:defRPr sz="2300">
                <a:solidFill>
                  <a:srgbClr val="262934"/>
                </a:solidFill>
                <a:latin typeface="Avenir Next"/>
              </a:defRPr>
            </a:pPr>
            <a:r>
              <a:t>순차 처리 때문에 학습 병렬화가 어려움</a:t>
            </a:r>
          </a:p>
          <a:p>
            <a:pPr>
              <a:defRPr sz="2300">
                <a:solidFill>
                  <a:srgbClr val="262934"/>
                </a:solidFill>
                <a:latin typeface="Avenir Next"/>
              </a:defRPr>
            </a:pPr>
            <a:r>
              <a:t>Attention-only 구조로 병목을 구조적으로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8A"/>
                </a:solidFill>
                <a:latin typeface="Avenir Next"/>
              </a:defRPr>
            </a:pPr>
            <a:r>
              <a:t>OpenClaw · AIAYN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2050"/>
                </a:solidFill>
                <a:latin typeface="Avenir Next"/>
              </a:defRPr>
            </a:pPr>
            <a:r>
              <a:t>Architecture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D9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>
                <a:solidFill>
                  <a:srgbClr val="262934"/>
                </a:solidFill>
                <a:latin typeface="Avenir Next"/>
              </a:defRPr>
            </a:pPr>
            <a:r>
              <a:t>Encoder-Decoder Transformer</a:t>
            </a:r>
          </a:p>
          <a:p>
            <a:pPr>
              <a:defRPr sz="2300">
                <a:solidFill>
                  <a:srgbClr val="262934"/>
                </a:solidFill>
                <a:latin typeface="Avenir Next"/>
              </a:defRPr>
            </a:pPr>
            <a:r>
              <a:t>Multi-Head Self-Attention + Position-wise FFN</a:t>
            </a:r>
          </a:p>
          <a:p>
            <a:pPr>
              <a:defRPr sz="2300">
                <a:solidFill>
                  <a:srgbClr val="262934"/>
                </a:solidFill>
                <a:latin typeface="Avenir Next"/>
              </a:defRPr>
            </a:pPr>
            <a:r>
              <a:t>Residual Connection + LayerNorm으로 안정적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8A"/>
                </a:solidFill>
                <a:latin typeface="Avenir Next"/>
              </a:defRPr>
            </a:pPr>
            <a:r>
              <a:t>OpenClaw · AIAYN brief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2050"/>
                </a:solidFill>
                <a:latin typeface="Avenir Next"/>
              </a:defRPr>
            </a:pPr>
            <a:r>
              <a:t>Core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667512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9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E2050"/>
                </a:solidFill>
                <a:latin typeface="Avenir Next"/>
              </a:defRPr>
            </a:pPr>
            <a:r>
              <a:t>Scaled Dot-Product Attention</a:t>
            </a:r>
          </a:p>
          <a:p>
            <a:pPr>
              <a:defRPr sz="2400">
                <a:solidFill>
                  <a:srgbClr val="1A3C8C"/>
                </a:solidFill>
                <a:latin typeface="Avenir Next"/>
              </a:defRPr>
            </a:pPr>
            <a:r>
              <a:t>Attention(Q, K, V) = softmax(QK^T / sqrt(d_k))V</a:t>
            </a:r>
          </a:p>
          <a:p>
            <a:pPr>
              <a:defRPr sz="2100">
                <a:solidFill>
                  <a:srgbClr val="262934"/>
                </a:solidFill>
                <a:latin typeface="Avenir Next"/>
              </a:defRPr>
            </a:pPr>
            <a:r>
              <a:t>• QK^T로 토큰 간 상관 계산</a:t>
            </a:r>
          </a:p>
          <a:p>
            <a:pPr>
              <a:defRPr sz="2100">
                <a:solidFill>
                  <a:srgbClr val="262934"/>
                </a:solidFill>
                <a:latin typeface="Avenir Next"/>
              </a:defRPr>
            </a:pPr>
            <a:r>
              <a:t>• sqrt(d_k)로 안정적 softmax</a:t>
            </a:r>
          </a:p>
          <a:p>
            <a:pPr>
              <a:defRPr sz="2100">
                <a:solidFill>
                  <a:srgbClr val="262934"/>
                </a:solidFill>
                <a:latin typeface="Avenir Next"/>
              </a:defRPr>
            </a:pPr>
            <a:r>
              <a:t>• V 가중합으로 문맥 표현 생성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543800" y="1371600"/>
            <a:ext cx="4069080" cy="4937760"/>
          </a:xfrm>
          <a:prstGeom prst="rect">
            <a:avLst/>
          </a:prstGeom>
          <a:solidFill>
            <a:srgbClr val="EFF3FD"/>
          </a:solidFill>
          <a:ln>
            <a:solidFill>
              <a:srgbClr val="C8D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3C8C"/>
                </a:solidFill>
                <a:latin typeface="Avenir Next"/>
              </a:defRPr>
            </a:pPr>
            <a:r>
              <a:t>Why it matters</a:t>
            </a:r>
          </a:p>
          <a:p>
            <a:pPr>
              <a:defRPr sz="1900">
                <a:solidFill>
                  <a:srgbClr val="262934"/>
                </a:solidFill>
                <a:latin typeface="Avenir Next"/>
              </a:defRPr>
            </a:pPr>
            <a:r>
              <a:t>• recurrence 없이 관계 모델링</a:t>
            </a:r>
          </a:p>
          <a:p>
            <a:pPr>
              <a:defRPr sz="1900">
                <a:solidFill>
                  <a:srgbClr val="262934"/>
                </a:solidFill>
                <a:latin typeface="Avenir Next"/>
              </a:defRPr>
            </a:pPr>
            <a:r>
              <a:t>• 긴 문맥 상호작용을 직접 반영</a:t>
            </a:r>
          </a:p>
          <a:p>
            <a:pPr>
              <a:defRPr sz="1900">
                <a:solidFill>
                  <a:srgbClr val="262934"/>
                </a:solidFill>
                <a:latin typeface="Avenir Next"/>
              </a:defRPr>
            </a:pPr>
            <a:r>
              <a:t>• 현대 LLM 아키텍처의 핵심 연산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8A"/>
                </a:solidFill>
                <a:latin typeface="Avenir Next"/>
              </a:defRPr>
            </a:pPr>
            <a:r>
              <a:t>OpenClaw · AIAYN brief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2050"/>
                </a:solidFill>
                <a:latin typeface="Avenir Next"/>
              </a:defRPr>
            </a:pPr>
            <a:r>
              <a:t>Results and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9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E2050"/>
                </a:solidFill>
                <a:latin typeface="Avenir Next"/>
              </a:defRPr>
            </a:pPr>
            <a:r>
              <a:t>What changed after AIAYN</a:t>
            </a:r>
          </a:p>
          <a:p>
            <a:pPr>
              <a:defRPr sz="2200">
                <a:solidFill>
                  <a:srgbClr val="262934"/>
                </a:solidFill>
                <a:latin typeface="Avenir Next"/>
              </a:defRPr>
            </a:pPr>
            <a:r>
              <a:t>• Modeling center: Recurrence → Attention</a:t>
            </a:r>
          </a:p>
          <a:p>
            <a:pPr>
              <a:defRPr sz="2200">
                <a:solidFill>
                  <a:srgbClr val="262934"/>
                </a:solidFill>
                <a:latin typeface="Avenir Next"/>
              </a:defRPr>
            </a:pPr>
            <a:r>
              <a:t>• Training behavior: Limited parallelism → Highly parallel</a:t>
            </a:r>
          </a:p>
          <a:p>
            <a:pPr>
              <a:defRPr sz="2200">
                <a:solidFill>
                  <a:srgbClr val="262934"/>
                </a:solidFill>
                <a:latin typeface="Avenir Next"/>
              </a:defRPr>
            </a:pPr>
            <a:r>
              <a:t>• Long-term impact: Transformer as LLM standard backbone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8A"/>
                </a:solidFill>
                <a:latin typeface="Avenir Next"/>
              </a:defRPr>
            </a:pPr>
            <a:r>
              <a:t>OpenClaw · AIAYN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2050"/>
                </a:solidFill>
                <a:latin typeface="Avenir Next"/>
              </a:defRPr>
            </a:pPr>
            <a:r>
              <a:t>Limitations and follow-ups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D9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>
                <a:solidFill>
                  <a:srgbClr val="262934"/>
                </a:solidFill>
                <a:latin typeface="Avenir Next"/>
              </a:defRPr>
            </a:pPr>
            <a:r>
              <a:t>Self-Attention의 O(n^2) 연산/메모리 비용</a:t>
            </a:r>
          </a:p>
          <a:p>
            <a:pPr>
              <a:defRPr sz="2300">
                <a:solidFill>
                  <a:srgbClr val="262934"/>
                </a:solidFill>
                <a:latin typeface="Avenir Next"/>
              </a:defRPr>
            </a:pPr>
            <a:r>
              <a:t>긴 문맥에서 비용 급증</a:t>
            </a:r>
          </a:p>
          <a:p>
            <a:pPr>
              <a:defRPr sz="2300">
                <a:solidFill>
                  <a:srgbClr val="262934"/>
                </a:solidFill>
                <a:latin typeface="Avenir Next"/>
              </a:defRPr>
            </a:pPr>
            <a:r>
              <a:t>후속: Sparse/Linear/FlashAttention, long-context 최적화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8A"/>
                </a:solidFill>
                <a:latin typeface="Avenir Next"/>
              </a:defRPr>
            </a:pPr>
            <a:r>
              <a:t>OpenClaw · AIAYN brief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2050"/>
                </a:solidFill>
                <a:latin typeface="Avenir Next"/>
              </a:defRPr>
            </a:pPr>
            <a: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D9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>
                <a:solidFill>
                  <a:srgbClr val="262934"/>
                </a:solidFill>
                <a:latin typeface="Avenir Next"/>
              </a:defRPr>
            </a:pPr>
            <a:r>
              <a:t>Transformer 이해는 LLM 이해의 출발점</a:t>
            </a:r>
          </a:p>
          <a:p>
            <a:pPr>
              <a:defRPr sz="2300">
                <a:solidFill>
                  <a:srgbClr val="262934"/>
                </a:solidFill>
                <a:latin typeface="Avenir Next"/>
              </a:defRPr>
            </a:pPr>
            <a:r>
              <a:t>성능 + 효율을 함께 최적화해야 실무 전환 가능</a:t>
            </a:r>
          </a:p>
          <a:p>
            <a:pPr>
              <a:defRPr sz="2300">
                <a:solidFill>
                  <a:srgbClr val="262934"/>
                </a:solidFill>
                <a:latin typeface="Avenir Next"/>
              </a:defRPr>
            </a:pPr>
            <a:r>
              <a:t>Attention 설계 선택이 모델 품질을 크게 좌우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8A"/>
                </a:solidFill>
                <a:latin typeface="Avenir Next"/>
              </a:defRPr>
            </a:pPr>
            <a:r>
              <a:t>OpenClaw · AIAYN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
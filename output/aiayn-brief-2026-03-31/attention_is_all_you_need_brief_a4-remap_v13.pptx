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0835" y="1108363"/>
            <a:ext cx="10450024" cy="4202545"/>
          </a:xfrm>
          <a:prstGeom prst="roundRect">
            <a:avLst/>
          </a:prstGeom>
          <a:solidFill>
            <a:srgbClr val="FFFFFF"/>
          </a:solidFill>
          <a:ln>
            <a:solidFill>
              <a:srgbClr val="A5B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64445" tIns="277090"/>
          <a:lstStyle/>
          <a:p>
            <a:pPr algn="ctr">
              <a:defRPr sz="4800" b="1">
                <a:solidFill>
                  <a:srgbClr val="FFFFFF"/>
                </a:solidFill>
                <a:latin typeface="Apple SD Gothic Neo"/>
              </a:defRPr>
            </a:pPr>
            <a:r>
              <a:t>Attention Is All You Need</a:t>
            </a:r>
          </a:p>
          <a:p>
            <a:pPr>
              <a:defRPr sz="2000">
                <a:solidFill>
                  <a:srgbClr val="DCE6FA"/>
                </a:solidFill>
                <a:latin typeface="Apple SD Gothic Neo"/>
              </a:defRPr>
            </a:pPr>
            <a:r>
              <a:t>A4-to-16:9 remapped design</a:t>
            </a:r>
          </a:p>
          <a:p>
            <a:pPr>
              <a:defRPr sz="1500">
                <a:solidFill>
                  <a:srgbClr val="C3D4FA"/>
                </a:solidFill>
                <a:latin typeface="Apple SD Gothic Neo"/>
              </a:defRPr>
            </a:pPr>
            <a:r>
              <a:t>A4-style design remapped to 16:9 slide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14743" y="46181"/>
            <a:ext cx="2902784" cy="1616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6EE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389" y="6603999"/>
            <a:ext cx="4934733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5290" y="6603999"/>
            <a:ext cx="6270014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0909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0556" y="484909"/>
            <a:ext cx="580556" cy="36945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280" y="461818"/>
            <a:ext cx="9869467" cy="4618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2050"/>
                </a:solidFill>
                <a:latin typeface="Apple SD Gothic Neo"/>
              </a:defRPr>
            </a:pPr>
            <a:r>
              <a:t>Problem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5280" y="900545"/>
            <a:ext cx="9869467" cy="41563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3336" y="969818"/>
            <a:ext cx="96953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D8A"/>
                </a:solidFill>
                <a:latin typeface="Apple SD Gothic Neo"/>
              </a:defRPr>
            </a:pPr>
            <a:r>
              <a:t>from recurrence bottlenecks to attention-first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4743" y="46181"/>
            <a:ext cx="2902784" cy="1616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89" y="6603999"/>
            <a:ext cx="4934733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5290" y="6603999"/>
            <a:ext cx="6270014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556" y="1339272"/>
            <a:ext cx="5573346" cy="43410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2222" rIns="174167" tIns="415636"/>
          <a:lstStyle/>
          <a:p>
            <a:pPr algn="ctr"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Long-range dependency learning was difficult</a:t>
            </a:r>
          </a:p>
          <a:p>
            <a:pPr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Sequential processing limited parallelism</a:t>
            </a:r>
          </a:p>
          <a:p>
            <a:pPr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Scaling increased training cost significantly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779" y="1431636"/>
            <a:ext cx="5108900" cy="230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A3C8C"/>
                </a:solidFill>
                <a:latin typeface="Apple SD Gothic Neo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0014" y="1339272"/>
            <a:ext cx="5341123" cy="4341090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2222" rIns="174167" tIns="415636"/>
          <a:lstStyle/>
          <a:p>
            <a:pPr algn="ctr"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Self-attention directly models token relations</a:t>
            </a:r>
          </a:p>
          <a:p>
            <a:pPr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Parallel-friendly architecture improved throughput</a:t>
            </a:r>
          </a:p>
          <a:p>
            <a:pPr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Set foundation for large-scale language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237" y="1431636"/>
            <a:ext cx="4876678" cy="230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A3C8C"/>
                </a:solidFill>
                <a:latin typeface="Apple SD Gothic Neo"/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0909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0556" y="484909"/>
            <a:ext cx="580556" cy="36945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280" y="461818"/>
            <a:ext cx="9869467" cy="4618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2050"/>
                </a:solidFill>
                <a:latin typeface="Apple SD Gothic Neo"/>
              </a:defRPr>
            </a:pPr>
            <a: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5280" y="900545"/>
            <a:ext cx="9869467" cy="41563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3336" y="969818"/>
            <a:ext cx="96953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D8A"/>
                </a:solidFill>
                <a:latin typeface="Apple SD Gothic Neo"/>
              </a:defRPr>
            </a:pPr>
            <a:r>
              <a:t>encoder/decoder with repeated attention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4743" y="46181"/>
            <a:ext cx="2902784" cy="1616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89" y="6603999"/>
            <a:ext cx="4934733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5290" y="6603999"/>
            <a:ext cx="6270014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556" y="1339272"/>
            <a:ext cx="11030581" cy="43410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779" y="1431636"/>
            <a:ext cx="10566135" cy="230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A3C8C"/>
                </a:solidFill>
                <a:latin typeface="Apple SD Gothic Neo"/>
              </a:defRPr>
            </a:pPr>
            <a:r>
              <a:t>Transformer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5002" y="2632363"/>
            <a:ext cx="1973893" cy="1108363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2050"/>
                </a:solidFill>
                <a:latin typeface="Apple SD Gothic Neo"/>
              </a:defRPr>
            </a:pPr>
            <a:r>
              <a:t>Embedding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9452" y="2632363"/>
            <a:ext cx="1973893" cy="1108363"/>
          </a:xfrm>
          <a:prstGeom prst="roundRect">
            <a:avLst/>
          </a:prstGeom>
          <a:solidFill>
            <a:srgbClr val="ECF8F1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2050"/>
                </a:solidFill>
                <a:latin typeface="Apple SD Gothic Neo"/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03" y="2632363"/>
            <a:ext cx="1973893" cy="1108363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2050"/>
                </a:solidFill>
                <a:latin typeface="Apple SD Gothic Neo"/>
              </a:defRPr>
            </a:pPr>
            <a:r>
              <a:t>FFN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8353" y="2632363"/>
            <a:ext cx="1973893" cy="1108363"/>
          </a:xfrm>
          <a:prstGeom prst="roundRect">
            <a:avLst/>
          </a:prstGeom>
          <a:solidFill>
            <a:srgbClr val="ECF8F1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2050"/>
                </a:solidFill>
                <a:latin typeface="Apple SD Gothic Neo"/>
              </a:defRPr>
            </a:pPr>
            <a: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76951" y="2955636"/>
            <a:ext cx="464445" cy="323272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631401" y="2955636"/>
            <a:ext cx="464445" cy="323272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185852" y="2955636"/>
            <a:ext cx="464445" cy="323272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0909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0556" y="484909"/>
            <a:ext cx="580556" cy="36945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280" y="461818"/>
            <a:ext cx="9869467" cy="4618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2050"/>
                </a:solidFill>
                <a:latin typeface="Apple SD Gothic Neo"/>
              </a:defRPr>
            </a:pPr>
            <a:r>
              <a:t>Core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5280" y="900545"/>
            <a:ext cx="9869467" cy="41563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3336" y="969818"/>
            <a:ext cx="96953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D8A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4743" y="46181"/>
            <a:ext cx="2902784" cy="1616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89" y="6603999"/>
            <a:ext cx="4934733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5290" y="6603999"/>
            <a:ext cx="6270014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556" y="1339272"/>
            <a:ext cx="11030581" cy="43410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779" y="1431636"/>
            <a:ext cx="10566135" cy="230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891" y="2078181"/>
            <a:ext cx="10333912" cy="5541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891" y="2863272"/>
            <a:ext cx="10333912" cy="2401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42834"/>
                </a:solidFill>
                <a:latin typeface="Apple SD Gothic Neo"/>
              </a:defRPr>
            </a:pPr>
            <a:r>
              <a:t>• QK^T computes token-to-token relevance</a:t>
            </a:r>
          </a:p>
          <a:p>
            <a:pPr>
              <a:defRPr sz="2000">
                <a:solidFill>
                  <a:srgbClr val="242834"/>
                </a:solidFill>
                <a:latin typeface="Apple SD Gothic Neo"/>
              </a:defRPr>
            </a:pPr>
            <a:r>
              <a:t>• sqrt(d_k) scaling stabilizes optimization</a:t>
            </a:r>
          </a:p>
          <a:p>
            <a:pPr>
              <a:defRPr sz="2000">
                <a:solidFill>
                  <a:srgbClr val="242834"/>
                </a:solidFill>
                <a:latin typeface="Apple SD Gothic Neo"/>
              </a:defRPr>
            </a:pPr>
            <a:r>
              <a:t>• Weighted V aggregation builds contextual representations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0909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0556" y="484909"/>
            <a:ext cx="580556" cy="36945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280" y="461818"/>
            <a:ext cx="9869467" cy="4618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2050"/>
                </a:solidFill>
                <a:latin typeface="Apple SD Gothic Neo"/>
              </a:defRPr>
            </a:pPr>
            <a:r>
              <a:t>Results and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5280" y="900545"/>
            <a:ext cx="9869467" cy="41563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3336" y="969818"/>
            <a:ext cx="96953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D8A"/>
                </a:solidFill>
                <a:latin typeface="Apple SD Gothic Neo"/>
              </a:defRPr>
            </a:pPr>
            <a:r>
              <a:t>A4-style table block remapped to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4743" y="46181"/>
            <a:ext cx="2902784" cy="1616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89" y="6603999"/>
            <a:ext cx="4934733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5290" y="6603999"/>
            <a:ext cx="6270014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556" y="1339272"/>
            <a:ext cx="11030581" cy="43410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28891" y="1893454"/>
          <a:ext cx="10333912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506"/>
                <a:gridCol w="7721406"/>
              </a:tblGrid>
              <a:tr h="889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42834"/>
                          </a:solidFill>
                          <a:latin typeface="Apple SD Gothic Neo"/>
                        </a:defRPr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42834"/>
                          </a:solidFill>
                          <a:latin typeface="Apple SD Gothic Neo"/>
                        </a:defRPr>
                      </a:pPr>
                      <a:r>
                        <a:t>Shift from recurrence-centric to attention-centric sequence modeling</a:t>
                      </a:r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42834"/>
                          </a:solidFill>
                          <a:latin typeface="Apple SD Gothic Neo"/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42834"/>
                          </a:solidFill>
                          <a:latin typeface="Apple SD Gothic Neo"/>
                        </a:defRPr>
                      </a:pPr>
                      <a:r>
                        <a:t>Substantially improved training parallelism and scalability</a:t>
                      </a:r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42834"/>
                          </a:solidFill>
                          <a:latin typeface="Apple SD Gothic Neo"/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42834"/>
                          </a:solidFill>
                          <a:latin typeface="Apple SD Gothic Neo"/>
                        </a:defRPr>
                      </a:pPr>
                      <a:r>
                        <a:t>Established backbone used by BERT, GPT, and modern LLM families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0909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0556" y="484909"/>
            <a:ext cx="580556" cy="36945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280" y="461818"/>
            <a:ext cx="9869467" cy="4618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2050"/>
                </a:solidFill>
                <a:latin typeface="Apple SD Gothic Neo"/>
              </a:defRPr>
            </a:pPr>
            <a:r>
              <a:t>Limitations and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5280" y="900545"/>
            <a:ext cx="9869467" cy="41563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3336" y="969818"/>
            <a:ext cx="96953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26D8A"/>
                </a:solidFill>
                <a:latin typeface="Apple SD Gothic Neo"/>
              </a:defRPr>
            </a:pPr>
            <a:r>
              <a:t>what to remember for modern LLM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4743" y="46181"/>
            <a:ext cx="2902784" cy="1616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89" y="6603999"/>
            <a:ext cx="4934733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5290" y="6603999"/>
            <a:ext cx="6270014" cy="184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556" y="1339272"/>
            <a:ext cx="5573346" cy="43410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2222" rIns="174167" tIns="415636"/>
          <a:lstStyle/>
          <a:p>
            <a:pPr algn="ctr"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Self-attention cost still grows quadratically</a:t>
            </a:r>
          </a:p>
          <a:p>
            <a:pPr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Long-context inference increases memory and latency</a:t>
            </a:r>
          </a:p>
          <a:p>
            <a:pPr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Production deployment needs careful efficiency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779" y="1431636"/>
            <a:ext cx="5108900" cy="230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A3C8C"/>
                </a:solidFill>
                <a:latin typeface="Apple SD Gothic Neo"/>
              </a:defRPr>
            </a:pPr>
            <a:r>
              <a:t>Limitations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0014" y="1339272"/>
            <a:ext cx="5341123" cy="4341090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2222" rIns="174167" tIns="415636"/>
          <a:lstStyle/>
          <a:p>
            <a:pPr algn="ctr"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Transformer literacy is core LLM literacy</a:t>
            </a:r>
          </a:p>
          <a:p>
            <a:pPr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Quality and efficiency should be optimized together</a:t>
            </a:r>
          </a:p>
          <a:p>
            <a:pPr>
              <a:spcAft>
                <a:spcPts val="800"/>
              </a:spcAft>
              <a:defRPr sz="1900">
                <a:solidFill>
                  <a:srgbClr val="242834"/>
                </a:solidFill>
                <a:latin typeface="Apple SD Gothic Neo"/>
              </a:defRPr>
            </a:pPr>
            <a:r>
              <a:t>• Attention design choices strongly shape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237" y="1431636"/>
            <a:ext cx="4876678" cy="230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A3C8C"/>
                </a:solidFill>
                <a:latin typeface="Apple SD Gothic Neo"/>
              </a:defRPr>
            </a:pPr>
            <a:r>
              <a:t>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
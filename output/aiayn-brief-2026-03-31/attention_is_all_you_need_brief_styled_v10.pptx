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170432"/>
            <a:ext cx="104698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2B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566928"/>
          <a:lstStyle/>
          <a:p>
            <a:pPr algn="ctr">
              <a:defRPr b="1" sz="5000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>
              <a:defRPr sz="2100">
                <a:solidFill>
                  <a:srgbClr val="D4E0FF"/>
                </a:solidFill>
                <a:latin typeface="Apple SD Gothic Neo"/>
              </a:defRPr>
            </a:pPr>
            <a:r>
              <a:t>refined, report-aligned presentation design</a:t>
            </a:r>
          </a:p>
          <a:p>
            <a:pPr>
              <a:defRPr sz="1600">
                <a:solidFill>
                  <a:srgbClr val="BBCDF7"/>
                </a:solidFill>
                <a:latin typeface="Apple SD Gothic Neo"/>
              </a:defRPr>
            </a:pPr>
            <a:r>
              <a:t>Self-Attention · Parallel Training · LLM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6EE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Problem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6D8C"/>
                </a:solidFill>
                <a:latin typeface="Apple SD Gothic Neo"/>
              </a:defRPr>
            </a:pPr>
            <a:r>
              <a:t>why sequence modeling needed a new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16D8C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RNN recurrence made long-range dependencies hard to learn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Sequential processing limited hardware parallelism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Scaling model/data significantly increased training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4708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737360"/>
            <a:ext cx="5193792" cy="438912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Self-attention directly models token-to-token interactions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Parallel-friendly architecture improved throughput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Enabled practical large-scale pretraining pipelines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847088"/>
            <a:ext cx="4782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6D8C"/>
                </a:solidFill>
                <a:latin typeface="Apple SD Gothic Neo"/>
              </a:defRPr>
            </a:pPr>
            <a:r>
              <a:t>encoder/decoder with repeated attention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16D8C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65376"/>
            <a:ext cx="104515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Transformer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" y="3035808"/>
            <a:ext cx="2103120" cy="1115568"/>
          </a:xfrm>
          <a:prstGeom prst="roundRect">
            <a:avLst/>
          </a:prstGeom>
          <a:solidFill>
            <a:srgbClr val="F7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3035808"/>
            <a:ext cx="2103120" cy="1115568"/>
          </a:xfrm>
          <a:prstGeom prst="roundRect">
            <a:avLst/>
          </a:prstGeom>
          <a:solidFill>
            <a:srgbClr val="ECF8F1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035808"/>
            <a:ext cx="2103120" cy="1115568"/>
          </a:xfrm>
          <a:prstGeom prst="roundRect">
            <a:avLst/>
          </a:prstGeom>
          <a:solidFill>
            <a:srgbClr val="F7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41663" y="3035808"/>
            <a:ext cx="2103120" cy="1115568"/>
          </a:xfrm>
          <a:prstGeom prst="roundRect">
            <a:avLst/>
          </a:prstGeom>
          <a:solidFill>
            <a:srgbClr val="ECF8F1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3392424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760720" y="3392424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321040" y="3392424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6D8C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16D8C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47088"/>
            <a:ext cx="104515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103327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18688"/>
            <a:ext cx="1033272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QK^T computes pairwise relevance between tokens</a:t>
            </a:r>
          </a:p>
          <a:p>
            <a:pPr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sqrt(d_k) scaling prevents unstable softmax saturation</a:t>
            </a:r>
          </a:p>
          <a:p>
            <a:pPr>
              <a:defRPr sz="2100">
                <a:solidFill>
                  <a:srgbClr val="222632"/>
                </a:solidFill>
                <a:latin typeface="Apple SD Gothic Neo"/>
              </a:defRPr>
            </a:pPr>
            <a:r>
              <a:t>• Weighted V aggregation forms contextual token representations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6D8C"/>
                </a:solidFill>
                <a:latin typeface="Apple SD Gothic Neo"/>
              </a:defRPr>
            </a:pPr>
            <a:r>
              <a:t>what changed after AIAYN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16D8C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32688" y="2084831"/>
          <a:ext cx="1033272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032"/>
                <a:gridCol w="7790688"/>
              </a:tblGrid>
              <a:tr h="8412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Shifted from recurrence-centric to attention-centric sequence modeling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Substantially improved training parallelism and scalability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632"/>
                          </a:solidFill>
                          <a:latin typeface="Apple SD Gothic Neo"/>
                        </a:defRPr>
                      </a:pPr>
                      <a:r>
                        <a:t>Established core backbone used by BERT, GPT, and modern LLM families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Limitations and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16D8C"/>
                </a:solidFill>
                <a:latin typeface="Apple SD Gothic Neo"/>
              </a:defRPr>
            </a:pPr>
            <a:r>
              <a:t>practical constraints and next design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486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16D8C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3737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6D8C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Self-attention complexity still grows quadratically with sequence length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Long-context settings increase memory footprint and latency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Production deployment needs aggressive efficiency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4708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Limitations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737360"/>
            <a:ext cx="5193792" cy="4389120"/>
          </a:xfrm>
          <a:prstGeom prst="roundRect">
            <a:avLst>
              <a:gd name="adj" fmla="val 5000"/>
            </a:avLst>
          </a:prstGeom>
          <a:solidFill>
            <a:srgbClr val="F7F0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Transformer literacy is essential for LLM work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Quality and efficiency must be optimized together</a:t>
            </a:r>
          </a:p>
          <a:p>
            <a:pPr>
              <a:spcAft>
                <a:spcPts val="800"/>
              </a:spcAft>
              <a:defRPr sz="1900">
                <a:solidFill>
                  <a:srgbClr val="222632"/>
                </a:solidFill>
                <a:latin typeface="Apple SD Gothic Neo"/>
              </a:defRPr>
            </a:pPr>
            <a:r>
              <a:t>• Attention design choices strongly shape downstream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847088"/>
            <a:ext cx="4782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
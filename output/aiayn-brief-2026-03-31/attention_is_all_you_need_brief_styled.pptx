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1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200">
                <a:solidFill>
                  <a:srgbClr val="122963"/>
                </a:solidFill>
                <a:latin typeface="Aptos Display"/>
              </a:defRPr>
            </a:pPr>
            <a:r>
              <a:t>Attention Is All You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E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262834"/>
                </a:solidFill>
                <a:latin typeface="Aptos"/>
              </a:defRPr>
            </a:pPr>
            <a:r>
              <a:t>Design-aware concise briefing</a:t>
            </a:r>
          </a:p>
          <a:p>
            <a:pPr>
              <a:defRPr sz="2400">
                <a:solidFill>
                  <a:srgbClr val="262834"/>
                </a:solidFill>
                <a:latin typeface="Aptos"/>
              </a:defRPr>
            </a:pPr>
            <a:r>
              <a:t>Transformer의 출발점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82"/>
                </a:solidFill>
                <a:latin typeface="Aptos"/>
              </a:defRPr>
            </a:pPr>
            <a:r>
              <a:t>OpenClaw · Attention Is All You Need 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1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22963"/>
                </a:solidFill>
                <a:latin typeface="Aptos Display"/>
              </a:defRPr>
            </a:pPr>
            <a:r>
              <a:t>Why it was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E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>
                <a:solidFill>
                  <a:srgbClr val="262834"/>
                </a:solidFill>
                <a:latin typeface="Aptos"/>
              </a:defRPr>
            </a:pPr>
            <a:r>
              <a:t>RNN Seq2Seq had bottlenecks</a:t>
            </a:r>
          </a:p>
          <a:p>
            <a:pPr>
              <a:defRPr sz="2300">
                <a:solidFill>
                  <a:srgbClr val="262834"/>
                </a:solidFill>
                <a:latin typeface="Aptos"/>
              </a:defRPr>
            </a:pPr>
            <a:r>
              <a:t>Long-range dependency was hard</a:t>
            </a:r>
          </a:p>
          <a:p>
            <a:pPr>
              <a:defRPr sz="2300">
                <a:solidFill>
                  <a:srgbClr val="262834"/>
                </a:solidFill>
                <a:latin typeface="Aptos"/>
              </a:defRPr>
            </a:pPr>
            <a:r>
              <a:t>Training parallelism was limited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82"/>
                </a:solidFill>
                <a:latin typeface="Aptos"/>
              </a:defRPr>
            </a:pPr>
            <a:r>
              <a:t>OpenClaw · Attention Is All You Need Brief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1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22963"/>
                </a:solidFill>
                <a:latin typeface="Aptos Display"/>
              </a:defRPr>
            </a:pPr>
            <a:r>
              <a:t>Core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E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>
                <a:solidFill>
                  <a:srgbClr val="262834"/>
                </a:solidFill>
                <a:latin typeface="Aptos"/>
              </a:defRPr>
            </a:pPr>
            <a:r>
              <a:t>Encoder-Decoder Transformer</a:t>
            </a:r>
          </a:p>
          <a:p>
            <a:pPr>
              <a:defRPr sz="2300">
                <a:solidFill>
                  <a:srgbClr val="262834"/>
                </a:solidFill>
                <a:latin typeface="Aptos"/>
              </a:defRPr>
            </a:pPr>
            <a:r>
              <a:t>Multi-Head Self-Attention</a:t>
            </a:r>
          </a:p>
          <a:p>
            <a:pPr>
              <a:defRPr sz="2300">
                <a:solidFill>
                  <a:srgbClr val="262834"/>
                </a:solidFill>
                <a:latin typeface="Aptos"/>
              </a:defRPr>
            </a:pPr>
            <a:r>
              <a:t>FFN + Residual + LayerNorm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82"/>
                </a:solidFill>
                <a:latin typeface="Aptos"/>
              </a:defRPr>
            </a:pPr>
            <a:r>
              <a:t>OpenClaw · Attention Is All You Need Brief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1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22963"/>
                </a:solidFill>
                <a:latin typeface="Aptos Display"/>
              </a:defRPr>
            </a:pPr>
            <a:r>
              <a:t>Attention formula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E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>
                <a:solidFill>
                  <a:srgbClr val="262834"/>
                </a:solidFill>
                <a:latin typeface="Aptos"/>
              </a:defRPr>
            </a:pPr>
            <a:r>
              <a:t>Attention(Q,K,V)=softmax(QK^T/sqrt(d_k))V</a:t>
            </a:r>
          </a:p>
          <a:p>
            <a:pPr>
              <a:defRPr sz="2300">
                <a:solidFill>
                  <a:srgbClr val="262834"/>
                </a:solidFill>
                <a:latin typeface="Aptos"/>
              </a:defRPr>
            </a:pPr>
            <a:r>
              <a:t>Scaling improves optimization stability</a:t>
            </a:r>
          </a:p>
          <a:p>
            <a:pPr>
              <a:defRPr sz="2300">
                <a:solidFill>
                  <a:srgbClr val="262834"/>
                </a:solidFill>
                <a:latin typeface="Aptos"/>
              </a:defRPr>
            </a:pPr>
            <a:r>
              <a:t>Token relationships are computed directly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82"/>
                </a:solidFill>
                <a:latin typeface="Aptos"/>
              </a:defRPr>
            </a:pPr>
            <a:r>
              <a:t>OpenClaw · Attention Is All You Need Brief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1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22963"/>
                </a:solidFill>
                <a:latin typeface="Aptos Display"/>
              </a:defRPr>
            </a:pPr>
            <a:r>
              <a:t>Multi-head + 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E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>
                <a:solidFill>
                  <a:srgbClr val="262834"/>
                </a:solidFill>
                <a:latin typeface="Aptos"/>
              </a:defRPr>
            </a:pPr>
            <a:r>
              <a:t>Different heads learn different relations</a:t>
            </a:r>
          </a:p>
          <a:p>
            <a:pPr>
              <a:defRPr sz="2300">
                <a:solidFill>
                  <a:srgbClr val="262834"/>
                </a:solidFill>
                <a:latin typeface="Aptos"/>
              </a:defRPr>
            </a:pPr>
            <a:r>
              <a:t>Positional encoding injects order</a:t>
            </a:r>
          </a:p>
          <a:p>
            <a:pPr>
              <a:defRPr sz="2300">
                <a:solidFill>
                  <a:srgbClr val="262834"/>
                </a:solidFill>
                <a:latin typeface="Aptos"/>
              </a:defRPr>
            </a:pPr>
            <a:r>
              <a:t>No recurrence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82"/>
                </a:solidFill>
                <a:latin typeface="Aptos"/>
              </a:defRPr>
            </a:pPr>
            <a:r>
              <a:t>OpenClaw · Attention Is All You Need Brief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1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22963"/>
                </a:solidFill>
                <a:latin typeface="Aptos Display"/>
              </a:defRPr>
            </a:pPr>
            <a:r>
              <a:t>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E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>
                <a:solidFill>
                  <a:srgbClr val="262834"/>
                </a:solidFill>
                <a:latin typeface="Aptos"/>
              </a:defRPr>
            </a:pPr>
            <a:r>
              <a:t>Strong translation performance</a:t>
            </a:r>
          </a:p>
          <a:p>
            <a:pPr>
              <a:defRPr sz="2300">
                <a:solidFill>
                  <a:srgbClr val="262834"/>
                </a:solidFill>
                <a:latin typeface="Aptos"/>
              </a:defRPr>
            </a:pPr>
            <a:r>
              <a:t>Better parallel training efficiency</a:t>
            </a:r>
          </a:p>
          <a:p>
            <a:pPr>
              <a:defRPr sz="2300">
                <a:solidFill>
                  <a:srgbClr val="262834"/>
                </a:solidFill>
                <a:latin typeface="Aptos"/>
              </a:defRPr>
            </a:pPr>
            <a:r>
              <a:t>Foundation for BERT/GPT-style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82"/>
                </a:solidFill>
                <a:latin typeface="Aptos"/>
              </a:defRPr>
            </a:pPr>
            <a:r>
              <a:t>OpenClaw · Attention Is All You Need Brief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1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22963"/>
                </a:solidFill>
                <a:latin typeface="Aptos Display"/>
              </a:defRPr>
            </a:pPr>
            <a: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E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>
                <a:solidFill>
                  <a:srgbClr val="262834"/>
                </a:solidFill>
                <a:latin typeface="Aptos"/>
              </a:defRPr>
            </a:pPr>
            <a:r>
              <a:t>Self-attention cost grows as O(n^2)</a:t>
            </a:r>
          </a:p>
          <a:p>
            <a:pPr>
              <a:defRPr sz="2300">
                <a:solidFill>
                  <a:srgbClr val="262834"/>
                </a:solidFill>
                <a:latin typeface="Aptos"/>
              </a:defRPr>
            </a:pPr>
            <a:r>
              <a:t>Long context is expensive</a:t>
            </a:r>
          </a:p>
          <a:p>
            <a:pPr>
              <a:defRPr sz="2300">
                <a:solidFill>
                  <a:srgbClr val="262834"/>
                </a:solidFill>
                <a:latin typeface="Aptos"/>
              </a:defRPr>
            </a:pPr>
            <a:r>
              <a:t>Follow-ups: sparse/linear/flash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82"/>
                </a:solidFill>
                <a:latin typeface="Aptos"/>
              </a:defRPr>
            </a:pPr>
            <a:r>
              <a:t>OpenClaw · Attention Is All You Need Brief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1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22963"/>
                </a:solidFill>
                <a:latin typeface="Aptos Display"/>
              </a:defRPr>
            </a:pPr>
            <a:r>
              <a:t>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EE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>
                <a:solidFill>
                  <a:srgbClr val="262834"/>
                </a:solidFill>
                <a:latin typeface="Aptos"/>
              </a:defRPr>
            </a:pPr>
            <a:r>
              <a:t>Transformer is core LLM literacy</a:t>
            </a:r>
          </a:p>
          <a:p>
            <a:pPr>
              <a:defRPr sz="2300">
                <a:solidFill>
                  <a:srgbClr val="262834"/>
                </a:solidFill>
                <a:latin typeface="Aptos"/>
              </a:defRPr>
            </a:pPr>
            <a:r>
              <a:t>Quality and efficiency must be co-optimized</a:t>
            </a:r>
          </a:p>
          <a:p>
            <a:pPr>
              <a:defRPr sz="2300">
                <a:solidFill>
                  <a:srgbClr val="262834"/>
                </a:solidFill>
                <a:latin typeface="Aptos"/>
              </a:defRPr>
            </a:pPr>
            <a:r>
              <a:t>Attention design shapes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782"/>
                </a:solidFill>
                <a:latin typeface="Aptos"/>
              </a:defRPr>
            </a:pPr>
            <a:r>
              <a:t>OpenClaw · Attention Is All You Need Brief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
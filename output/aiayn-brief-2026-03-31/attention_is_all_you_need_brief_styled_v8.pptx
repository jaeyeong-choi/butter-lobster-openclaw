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CE6FA"/>
                </a:solidFill>
                <a:latin typeface="Apple SD Gothic Neo"/>
              </a:defRPr>
            </a:pPr>
            <a:r>
              <a:t>PROJECT / PAPER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80160"/>
            <a:ext cx="10652760" cy="3611880"/>
          </a:xfrm>
          <a:prstGeom prst="roundRect">
            <a:avLst/>
          </a:prstGeom>
          <a:solidFill>
            <a:srgbClr val="1E346C"/>
          </a:solidFill>
          <a:ln>
            <a:solidFill>
              <a:srgbClr val="A1B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8912" tIns="530352"/>
          <a:lstStyle/>
          <a:p>
            <a:pPr algn="ctr">
              <a:defRPr sz="5000" b="1">
                <a:solidFill>
                  <a:srgbClr val="FFFFFF"/>
                </a:solidFill>
                <a:latin typeface="Apple SD Gothic Neo"/>
              </a:defRPr>
            </a:pPr>
            <a:r>
              <a:t>Attention Is All You Need</a:t>
            </a:r>
          </a:p>
          <a:p>
            <a:pPr>
              <a:defRPr sz="2000">
                <a:solidFill>
                  <a:srgbClr val="DCE6FA"/>
                </a:solidFill>
                <a:latin typeface="Apple SD Gothic Neo"/>
              </a:defRPr>
            </a:pPr>
            <a:r>
              <a:t>Transformer architecture brief in report-style design</a:t>
            </a:r>
          </a:p>
          <a:p>
            <a:pPr>
              <a:defRPr sz="1700">
                <a:solidFill>
                  <a:srgbClr val="CADBFF"/>
                </a:solidFill>
                <a:latin typeface="Apple SD Gothic Neo"/>
              </a:defRPr>
            </a:pPr>
            <a:r>
              <a:t>Self-Attention · Parallel Training · LLM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37376"/>
            <a:ext cx="5120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CE6F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512064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Why this paper mattered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from recurrence bottlenecks to attention-first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37376"/>
            <a:ext cx="5120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5577840" cy="438912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530352"/>
          <a:lstStyle/>
          <a:p>
            <a:pPr algn="ctr"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Long-range dependency learning was difficult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Sequential computation limited parallelism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Scaling caused high training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47088"/>
            <a:ext cx="5212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Before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37360"/>
            <a:ext cx="5349240" cy="4389120"/>
          </a:xfrm>
          <a:prstGeom prst="roundRect">
            <a:avLst>
              <a:gd name="adj" fmla="val 5000"/>
            </a:avLst>
          </a:prstGeom>
          <a:solidFill>
            <a:srgbClr val="FFF7EB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530352"/>
          <a:lstStyle/>
          <a:p>
            <a:pPr algn="ctr"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Attention directly models token relations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Architecture is naturally parallelizable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Enabled modern large-scale language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47088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26414"/>
                </a:solidFill>
                <a:latin typeface="Apple SD Gothic Neo"/>
              </a:defRPr>
            </a:pPr>
            <a:r>
              <a:t>After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512064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Architecture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encoder/decoder + self-attention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37376"/>
            <a:ext cx="5120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1064240" cy="43434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4708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063240"/>
            <a:ext cx="2148840" cy="1143000"/>
          </a:xfrm>
          <a:prstGeom prst="roundRect">
            <a:avLst/>
          </a:prstGeom>
          <a:solidFill>
            <a:srgbClr val="F8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Embedding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12463" y="3063240"/>
            <a:ext cx="2148840" cy="1143000"/>
          </a:xfrm>
          <a:prstGeom prst="roundRect">
            <a:avLst/>
          </a:prstGeom>
          <a:solidFill>
            <a:srgbClr val="DCE6FA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Multi-Head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3063240"/>
            <a:ext cx="2148840" cy="1143000"/>
          </a:xfrm>
          <a:prstGeom prst="roundRect">
            <a:avLst/>
          </a:prstGeom>
          <a:solidFill>
            <a:srgbClr val="F8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FFN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3063240"/>
            <a:ext cx="2148840" cy="1143000"/>
          </a:xfrm>
          <a:prstGeom prst="roundRect">
            <a:avLst/>
          </a:prstGeom>
          <a:solidFill>
            <a:srgbClr val="DCE6FA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73552" y="3410712"/>
            <a:ext cx="411480" cy="347472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888736" y="3410712"/>
            <a:ext cx="411480" cy="347472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503920" y="3410712"/>
            <a:ext cx="411480" cy="347472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512064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Core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scaled dot-product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37376"/>
            <a:ext cx="5120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1064240" cy="438912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4708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Attention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106984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8C"/>
                </a:solidFill>
                <a:latin typeface="Apple SD Gothic Neo"/>
              </a:defRPr>
            </a:pPr>
            <a:r>
              <a:t>Attention(Q, K, V) = softmax(QK^T / sqrt(d_k))V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106984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QK^T computes token-to-token relevance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sqrt(d_k) scaling improves optimization stability</a:t>
            </a:r>
          </a:p>
          <a:p>
            <a:pPr>
              <a:defRPr sz="2100">
                <a:solidFill>
                  <a:srgbClr val="232632"/>
                </a:solidFill>
                <a:latin typeface="Apple SD Gothic Neo"/>
              </a:defRPr>
            </a:pPr>
            <a:r>
              <a:t>• Weighted V aggregation builds contextual representation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512064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Results and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report-like table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37376"/>
            <a:ext cx="5120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1064240" cy="438912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148840"/>
          <a:ext cx="1051559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955279"/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3C8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Shift from recurrence-centric to attention-centric sequence modeling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Substantially improved parallel training characteristics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32632"/>
                          </a:solidFill>
                          <a:latin typeface="Apple SD Gothic Neo"/>
                        </a:defRPr>
                      </a:pPr>
                      <a:r>
                        <a:t>Established backbone used by BERT/GPT and modern LLM families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512064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0E2050"/>
                </a:solidFill>
                <a:latin typeface="Apple SD Gothic Neo"/>
              </a:defRPr>
            </a:pPr>
            <a: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three points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626D8A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37376"/>
            <a:ext cx="5120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11064240" cy="4389120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270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tIns="658368"/>
          <a:lstStyle/>
          <a:p>
            <a:pPr algn="ctr">
              <a:spcAft>
                <a:spcPts val="1200"/>
              </a:spcAft>
              <a:defRPr sz="2600" b="1">
                <a:solidFill>
                  <a:srgbClr val="0E2050"/>
                </a:solidFill>
                <a:latin typeface="Apple SD Gothic Neo"/>
              </a:defRPr>
            </a:pPr>
            <a:r>
              <a:t>1. Transformer literacy is core LLM literacy.</a:t>
            </a:r>
          </a:p>
          <a:p>
            <a:pPr>
              <a:spcAft>
                <a:spcPts val="1200"/>
              </a:spcAft>
              <a:defRPr sz="2600" b="1">
                <a:solidFill>
                  <a:srgbClr val="0E2050"/>
                </a:solidFill>
                <a:latin typeface="Apple SD Gothic Neo"/>
              </a:defRPr>
            </a:pPr>
            <a:r>
              <a:t>2. Model quality and computational efficiency must be evaluated together.</a:t>
            </a:r>
          </a:p>
          <a:p>
            <a:pPr>
              <a:spcAft>
                <a:spcPts val="1200"/>
              </a:spcAft>
              <a:defRPr sz="2600" b="1">
                <a:solidFill>
                  <a:srgbClr val="0E2050"/>
                </a:solidFill>
                <a:latin typeface="Apple SD Gothic Neo"/>
              </a:defRPr>
            </a:pPr>
            <a:r>
              <a:t>3. Attention design choices strongly shape model capability.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92807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43296"/>
                </a:solidFill>
                <a:latin typeface="Apple SD Gothic Neo"/>
              </a:defRPr>
            </a:pPr>
            <a:r>
              <a:t>Final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
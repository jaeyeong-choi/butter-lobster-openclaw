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72600" y="27432"/>
            <a:ext cx="265176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AEF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644652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0E2050"/>
                </a:solidFill>
                <a:latin typeface="Apple SD Gothic Neo"/>
              </a:defRPr>
            </a:pPr>
            <a:r>
              <a:t>Attention Is All You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26D8A"/>
                </a:solidFill>
                <a:latin typeface="Apple SD Gothic Neo"/>
              </a:defRPr>
            </a:pPr>
            <a:r>
              <a:t>Clean and polished brief in report-aligned style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7452360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621792" bIns="91440"/>
          <a:lstStyle/>
          <a:p>
            <a:pPr algn="ctr">
              <a:spcAft>
                <a:spcPts val="800"/>
              </a:spcAft>
              <a:defRPr sz="2300">
                <a:solidFill>
                  <a:srgbClr val="222632"/>
                </a:solidFill>
                <a:latin typeface="Apple SD Gothic Neo"/>
              </a:defRPr>
            </a:pPr>
            <a:r>
              <a:t>• Replaced recurrence with pure self-attention</a:t>
            </a:r>
          </a:p>
          <a:p>
            <a:pPr>
              <a:spcAft>
                <a:spcPts val="800"/>
              </a:spcAft>
              <a:defRPr sz="2300">
                <a:solidFill>
                  <a:srgbClr val="222632"/>
                </a:solidFill>
                <a:latin typeface="Apple SD Gothic Neo"/>
              </a:defRPr>
            </a:pPr>
            <a:r>
              <a:t>• Significantly improved training parallelism</a:t>
            </a:r>
          </a:p>
          <a:p>
            <a:pPr>
              <a:spcAft>
                <a:spcPts val="800"/>
              </a:spcAft>
              <a:defRPr sz="2300">
                <a:solidFill>
                  <a:srgbClr val="222632"/>
                </a:solidFill>
                <a:latin typeface="Apple SD Gothic Neo"/>
              </a:defRPr>
            </a:pPr>
            <a:r>
              <a:t>• Established the backbone used by modern LLMs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938528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Executive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39327" y="1783080"/>
            <a:ext cx="3108960" cy="4224528"/>
          </a:xfrm>
          <a:prstGeom prst="roundRect">
            <a:avLst>
              <a:gd name="adj" fmla="val 5000"/>
            </a:avLst>
          </a:prstGeom>
          <a:solidFill>
            <a:srgbClr val="F7F0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640080" bIns="91440"/>
          <a:lstStyle/>
          <a:p>
            <a:pPr algn="ctr"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Transformer</a:t>
            </a:r>
          </a:p>
          <a:p>
            <a:pPr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Multi-Head</a:t>
            </a:r>
          </a:p>
          <a:p>
            <a:pPr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Positional Encoding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93852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Keywords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72600" y="27432"/>
            <a:ext cx="265176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AEF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644652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0E2050"/>
                </a:solidFill>
                <a:latin typeface="Apple SD Gothic Neo"/>
              </a:defRPr>
            </a:pPr>
            <a:r>
              <a:t>Why this paper mattered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26D8A"/>
                </a:solidFill>
                <a:latin typeface="Apple SD Gothic Neo"/>
              </a:defRPr>
            </a:pPr>
            <a:r>
              <a:t>From RNN bottlenecks to attention-centric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 bIns="91440"/>
          <a:lstStyle/>
          <a:p>
            <a:pPr algn="ctr"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Long-range dependency learning was difficult</a:t>
            </a:r>
          </a:p>
          <a:p>
            <a:pPr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Sequential computation limited parallelism</a:t>
            </a:r>
          </a:p>
          <a:p>
            <a:pPr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Scaling up incurred high training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90195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Before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755648"/>
            <a:ext cx="5084064" cy="4480560"/>
          </a:xfrm>
          <a:prstGeom prst="roundRect">
            <a:avLst>
              <a:gd name="adj" fmla="val 5000"/>
            </a:avLst>
          </a:prstGeom>
          <a:solidFill>
            <a:srgbClr val="EFF4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 bIns="91440"/>
          <a:lstStyle/>
          <a:p>
            <a:pPr algn="ctr"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Attention directly models token relations</a:t>
            </a:r>
          </a:p>
          <a:p>
            <a:pPr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Architecture is naturally parallelizable</a:t>
            </a:r>
          </a:p>
          <a:p>
            <a:pPr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Became the foundation of large-scale 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0195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After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72600" y="27432"/>
            <a:ext cx="265176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AEF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644652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0E2050"/>
                </a:solidFill>
                <a:latin typeface="Apple SD Gothic Neo"/>
              </a:defRPr>
            </a:pPr>
            <a:r>
              <a:t>Architecture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26D8A"/>
                </a:solidFill>
                <a:latin typeface="Apple SD Gothic Neo"/>
              </a:defRPr>
            </a:pPr>
            <a:r>
              <a:t>Transformer block 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109728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2024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Encoder/Decoder + Attention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063240"/>
            <a:ext cx="2148840" cy="1234440"/>
          </a:xfrm>
          <a:prstGeom prst="roundRect">
            <a:avLst/>
          </a:prstGeom>
          <a:solidFill>
            <a:srgbClr val="F7F0FF"/>
          </a:solidFill>
          <a:ln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Embedding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3063240"/>
            <a:ext cx="2148840" cy="1234440"/>
          </a:xfrm>
          <a:prstGeom prst="roundRect">
            <a:avLst/>
          </a:prstGeom>
          <a:solidFill>
            <a:srgbClr val="EFF4FF"/>
          </a:solidFill>
          <a:ln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Multi-Head</a:t>
            </a:r>
            <a:br/>
            <a:r>
              <a:t>Attention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3063240"/>
            <a:ext cx="2148840" cy="1234440"/>
          </a:xfrm>
          <a:prstGeom prst="roundRect">
            <a:avLst/>
          </a:prstGeom>
          <a:solidFill>
            <a:srgbClr val="F7F0FF"/>
          </a:solidFill>
          <a:ln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FFN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33103" y="3063240"/>
            <a:ext cx="2148840" cy="1234440"/>
          </a:xfrm>
          <a:prstGeom prst="roundRect">
            <a:avLst/>
          </a:prstGeom>
          <a:solidFill>
            <a:srgbClr val="EFF4FF"/>
          </a:solidFill>
          <a:ln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Output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73552" y="3474720"/>
            <a:ext cx="384048" cy="384048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852160" y="3474720"/>
            <a:ext cx="384048" cy="384048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430767" y="3474720"/>
            <a:ext cx="384048" cy="384048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72600" y="27432"/>
            <a:ext cx="265176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AEF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644652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0E2050"/>
                </a:solidFill>
                <a:latin typeface="Apple SD Gothic Neo"/>
              </a:defRPr>
            </a:pPr>
            <a:r>
              <a:t>Core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26D8A"/>
                </a:solidFill>
                <a:latin typeface="Apple SD Gothic Neo"/>
              </a:defRPr>
            </a:pPr>
            <a:r>
              <a:t>Scaled Dot-Product 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1097280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2024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Attention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95728"/>
            <a:ext cx="1024128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C8C"/>
                </a:solidFill>
                <a:latin typeface="Apple SD Gothic Neo"/>
              </a:defRPr>
            </a:pPr>
            <a:r>
              <a:t>Attention(Q, K, V) = softmax(QK^T / sqrt(d_k))V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10128"/>
            <a:ext cx="1024128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22632"/>
                </a:solidFill>
                <a:latin typeface="Apple SD Gothic Neo"/>
              </a:defRPr>
            </a:pPr>
            <a:r>
              <a:t>• QK^T computes token-to-token relevance</a:t>
            </a:r>
          </a:p>
          <a:p>
            <a:pPr>
              <a:spcAft>
                <a:spcPts val="1000"/>
              </a:spcAft>
              <a:defRPr sz="2100">
                <a:solidFill>
                  <a:srgbClr val="222632"/>
                </a:solidFill>
                <a:latin typeface="Apple SD Gothic Neo"/>
              </a:defRPr>
            </a:pPr>
            <a:r>
              <a:t>• sqrt(d_k) stabilizes optimization</a:t>
            </a:r>
          </a:p>
          <a:p>
            <a:pPr>
              <a:spcAft>
                <a:spcPts val="1000"/>
              </a:spcAft>
              <a:defRPr sz="2100">
                <a:solidFill>
                  <a:srgbClr val="222632"/>
                </a:solidFill>
                <a:latin typeface="Apple SD Gothic Neo"/>
              </a:defRPr>
            </a:pPr>
            <a:r>
              <a:t>• Weighted V aggregation builds contextual representation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72600" y="27432"/>
            <a:ext cx="265176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AEF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644652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0E2050"/>
                </a:solidFill>
                <a:latin typeface="Apple SD Gothic Neo"/>
              </a:defRPr>
            </a:pPr>
            <a:r>
              <a:t>Results and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26D8A"/>
                </a:solidFill>
                <a:latin typeface="Apple SD Gothic Neo"/>
              </a:defRPr>
            </a:pPr>
            <a:r>
              <a:t>Major changes after AIAYN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47088"/>
            <a:ext cx="3520440" cy="4279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66543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A3C8C"/>
                </a:solidFill>
                <a:latin typeface="Apple SD Gothic Neo"/>
              </a:defRPr>
            </a:pPr>
            <a:r>
              <a:t>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743200"/>
            <a:ext cx="3127248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Recurrence-centric to attention-centric modeling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47088"/>
            <a:ext cx="3520440" cy="4279392"/>
          </a:xfrm>
          <a:prstGeom prst="roundRect">
            <a:avLst>
              <a:gd name="adj" fmla="val 5000"/>
            </a:avLst>
          </a:prstGeom>
          <a:solidFill>
            <a:srgbClr val="EFF4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66543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A3C8C"/>
                </a:solidFill>
                <a:latin typeface="Apple SD Gothic Neo"/>
              </a:defRPr>
            </a:pPr>
            <a:r>
              <a:t>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3127248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Substantially better parallel training behavior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847088"/>
            <a:ext cx="3520440" cy="4279392"/>
          </a:xfrm>
          <a:prstGeom prst="roundRect">
            <a:avLst>
              <a:gd name="adj" fmla="val 5000"/>
            </a:avLst>
          </a:prstGeom>
          <a:solidFill>
            <a:srgbClr val="F7F0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2066543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A3C8C"/>
                </a:solidFill>
                <a:latin typeface="Apple SD Gothic Neo"/>
              </a:defRPr>
            </a:pPr>
            <a:r>
              <a:t>Legacy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743200"/>
            <a:ext cx="3127248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Foundation of BERT/GPT and modern LLM stacks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72600" y="27432"/>
            <a:ext cx="265176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AEF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644652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0E2050"/>
                </a:solidFill>
                <a:latin typeface="Apple SD Gothic Neo"/>
              </a:defRPr>
            </a:pPr>
            <a:r>
              <a:t>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26D8A"/>
                </a:solidFill>
                <a:latin typeface="Apple SD Gothic Neo"/>
              </a:defRPr>
            </a:pPr>
            <a:r>
              <a:t>Three points to remember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1097280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1752" tIns="658368"/>
          <a:lstStyle/>
          <a:p>
            <a:pPr algn="ctr">
              <a:spcAft>
                <a:spcPts val="1200"/>
              </a:spcAft>
              <a:defRPr sz="2600" b="1">
                <a:solidFill>
                  <a:srgbClr val="0E2050"/>
                </a:solidFill>
                <a:latin typeface="Apple SD Gothic Neo"/>
              </a:defRPr>
            </a:pPr>
            <a:r>
              <a:t>1. Transformer literacy is core LLM literacy.</a:t>
            </a:r>
          </a:p>
          <a:p>
            <a:pPr>
              <a:spcAft>
                <a:spcPts val="1200"/>
              </a:spcAft>
              <a:defRPr sz="2600" b="1">
                <a:solidFill>
                  <a:srgbClr val="0E2050"/>
                </a:solidFill>
                <a:latin typeface="Apple SD Gothic Neo"/>
              </a:defRPr>
            </a:pPr>
            <a:r>
              <a:t>2. Model quality and efficiency should be optimized together.</a:t>
            </a:r>
          </a:p>
          <a:p>
            <a:pPr>
              <a:spcAft>
                <a:spcPts val="1200"/>
              </a:spcAft>
              <a:defRPr sz="2600" b="1">
                <a:solidFill>
                  <a:srgbClr val="0E2050"/>
                </a:solidFill>
                <a:latin typeface="Apple SD Gothic Neo"/>
              </a:defRPr>
            </a:pPr>
            <a:r>
              <a:t>3. Attention design choices strongly affect capability.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
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72600" y="27432"/>
            <a:ext cx="265176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AEFFF"/>
                </a:solidFill>
                <a:latin typeface="Arial"/>
              </a:defRPr>
            </a:pPr>
            <a:r>
              <a:t>2026-03-31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rial"/>
              </a:defRPr>
            </a:pPr>
            <a:r>
              <a:t>최재영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644652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rial"/>
              </a:defRPr>
            </a:pPr>
            <a:r>
              <a:t>Attention Is All You Need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E2050"/>
                </a:solidFill>
                <a:latin typeface="Arial"/>
              </a:defRPr>
            </a:pPr>
            <a:r>
              <a:t>Attention Is All You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26D8A"/>
                </a:solidFill>
                <a:latin typeface="Arial"/>
              </a:defRPr>
            </a:pPr>
            <a:r>
              <a:t>깔끔하고 세련된 핵심 요약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7452360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621792" bIns="91440"/>
          <a:lstStyle/>
          <a:p>
            <a:pPr algn="ctr">
              <a:spcAft>
                <a:spcPts val="800"/>
              </a:spcAft>
              <a:defRPr sz="2400">
                <a:solidFill>
                  <a:srgbClr val="222632"/>
                </a:solidFill>
                <a:latin typeface="Arial"/>
              </a:defRPr>
            </a:pPr>
            <a:r>
              <a:t>• RNN/CNN 없이 Self-Attention만으로 시퀀스 변환</a:t>
            </a:r>
          </a:p>
          <a:p>
            <a:pPr>
              <a:spcAft>
                <a:spcPts val="800"/>
              </a:spcAft>
              <a:defRPr sz="2400">
                <a:solidFill>
                  <a:srgbClr val="222632"/>
                </a:solidFill>
                <a:latin typeface="Arial"/>
              </a:defRPr>
            </a:pPr>
            <a:r>
              <a:t>• 학습 병렬화 효율을 구조적으로 크게 개선</a:t>
            </a:r>
          </a:p>
          <a:p>
            <a:pPr>
              <a:spcAft>
                <a:spcPts val="800"/>
              </a:spcAft>
              <a:defRPr sz="2400">
                <a:solidFill>
                  <a:srgbClr val="222632"/>
                </a:solidFill>
                <a:latin typeface="Arial"/>
              </a:defRPr>
            </a:pPr>
            <a:r>
              <a:t>• 현대 LLM(BERT/GPT) 아키텍처의 직접적 기반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938528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39327" y="1783080"/>
            <a:ext cx="3108960" cy="4224528"/>
          </a:xfrm>
          <a:prstGeom prst="roundRect">
            <a:avLst>
              <a:gd name="adj" fmla="val 5000"/>
            </a:avLst>
          </a:prstGeom>
          <a:solidFill>
            <a:srgbClr val="F7F0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640080" bIns="91440"/>
          <a:lstStyle/>
          <a:p>
            <a:pPr algn="ctr">
              <a:spcAft>
                <a:spcPts val="800"/>
              </a:spcAft>
              <a:defRPr sz="2000">
                <a:solidFill>
                  <a:srgbClr val="222632"/>
                </a:solidFill>
                <a:latin typeface="Arial"/>
              </a:defRPr>
            </a:pPr>
            <a:r>
              <a:t>• Transformer</a:t>
            </a:r>
          </a:p>
          <a:p>
            <a:pPr>
              <a:spcAft>
                <a:spcPts val="800"/>
              </a:spcAft>
              <a:defRPr sz="2000">
                <a:solidFill>
                  <a:srgbClr val="222632"/>
                </a:solidFill>
                <a:latin typeface="Arial"/>
              </a:defRPr>
            </a:pPr>
            <a:r>
              <a:t>• Multi-Head</a:t>
            </a:r>
          </a:p>
          <a:p>
            <a:pPr>
              <a:spcAft>
                <a:spcPts val="800"/>
              </a:spcAft>
              <a:defRPr sz="2000">
                <a:solidFill>
                  <a:srgbClr val="222632"/>
                </a:solidFill>
                <a:latin typeface="Arial"/>
              </a:defRPr>
            </a:pPr>
            <a:r>
              <a:t>• Positional Encoding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93852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rial"/>
              </a:defRPr>
            </a:pPr>
            <a:r>
              <a:t>Keywords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72600" y="27432"/>
            <a:ext cx="265176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AEFFF"/>
                </a:solidFill>
                <a:latin typeface="Arial"/>
              </a:defRPr>
            </a:pPr>
            <a:r>
              <a:t>2026-03-31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rial"/>
              </a:defRPr>
            </a:pPr>
            <a:r>
              <a:t>최재영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644652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rial"/>
              </a:defRPr>
            </a:pPr>
            <a:r>
              <a:t>Attention Is All You Need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E2050"/>
                </a:solidFill>
                <a:latin typeface="Arial"/>
              </a:defRPr>
            </a:pPr>
            <a:r>
              <a:t>Why this paper mattered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26D8A"/>
                </a:solidFill>
                <a:latin typeface="Arial"/>
              </a:defRPr>
            </a:pPr>
            <a:r>
              <a:t>문제 정의와 구조적 전환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55648"/>
            <a:ext cx="548640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 bIns="91440"/>
          <a:lstStyle/>
          <a:p>
            <a:pPr algn="ctr">
              <a:spcAft>
                <a:spcPts val="800"/>
              </a:spcAft>
              <a:defRPr sz="2100">
                <a:solidFill>
                  <a:srgbClr val="222632"/>
                </a:solidFill>
                <a:latin typeface="Arial"/>
              </a:defRPr>
            </a:pPr>
            <a:r>
              <a:t>• 장거리 의존성 학습이 어려움</a:t>
            </a:r>
          </a:p>
          <a:p>
            <a:pPr>
              <a:spcAft>
                <a:spcPts val="800"/>
              </a:spcAft>
              <a:defRPr sz="2100">
                <a:solidFill>
                  <a:srgbClr val="222632"/>
                </a:solidFill>
                <a:latin typeface="Arial"/>
              </a:defRPr>
            </a:pPr>
            <a:r>
              <a:t>• 순차 처리로 병렬화 제한</a:t>
            </a:r>
          </a:p>
          <a:p>
            <a:pPr>
              <a:spcAft>
                <a:spcPts val="800"/>
              </a:spcAft>
              <a:defRPr sz="2100">
                <a:solidFill>
                  <a:srgbClr val="222632"/>
                </a:solidFill>
                <a:latin typeface="Arial"/>
              </a:defRPr>
            </a:pPr>
            <a:r>
              <a:t>• 확장 시 계산 비용 급증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90195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755648"/>
            <a:ext cx="5084064" cy="4480560"/>
          </a:xfrm>
          <a:prstGeom prst="roundRect">
            <a:avLst>
              <a:gd name="adj" fmla="val 5000"/>
            </a:avLst>
          </a:prstGeom>
          <a:solidFill>
            <a:srgbClr val="EFF4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530352" bIns="91440"/>
          <a:lstStyle/>
          <a:p>
            <a:pPr algn="ctr">
              <a:spcAft>
                <a:spcPts val="800"/>
              </a:spcAft>
              <a:defRPr sz="2100">
                <a:solidFill>
                  <a:srgbClr val="222632"/>
                </a:solidFill>
                <a:latin typeface="Arial"/>
              </a:defRPr>
            </a:pPr>
            <a:r>
              <a:t>• Attention-only 구조로 관계 직접 계산</a:t>
            </a:r>
          </a:p>
          <a:p>
            <a:pPr>
              <a:spcAft>
                <a:spcPts val="800"/>
              </a:spcAft>
              <a:defRPr sz="2100">
                <a:solidFill>
                  <a:srgbClr val="222632"/>
                </a:solidFill>
                <a:latin typeface="Arial"/>
              </a:defRPr>
            </a:pPr>
            <a:r>
              <a:t>• 병렬 계산 친화적 아키텍처</a:t>
            </a:r>
          </a:p>
          <a:p>
            <a:pPr>
              <a:spcAft>
                <a:spcPts val="800"/>
              </a:spcAft>
              <a:defRPr sz="2100">
                <a:solidFill>
                  <a:srgbClr val="222632"/>
                </a:solidFill>
                <a:latin typeface="Arial"/>
              </a:defRPr>
            </a:pPr>
            <a:r>
              <a:t>• LLM 시대 표준 backbone 제공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0195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rial"/>
              </a:defRPr>
            </a:pPr>
            <a:r>
              <a:t>After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72600" y="27432"/>
            <a:ext cx="265176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AEFFF"/>
                </a:solidFill>
                <a:latin typeface="Arial"/>
              </a:defRPr>
            </a:pPr>
            <a:r>
              <a:t>2026-03-31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rial"/>
              </a:defRPr>
            </a:pPr>
            <a:r>
              <a:t>최재영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644652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rial"/>
              </a:defRPr>
            </a:pPr>
            <a:r>
              <a:t>Attention Is All You Need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E2050"/>
                </a:solidFill>
                <a:latin typeface="Arial"/>
              </a:defRPr>
            </a:pPr>
            <a:r>
              <a:t>Architecture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26D8A"/>
                </a:solidFill>
                <a:latin typeface="Arial"/>
              </a:defRPr>
            </a:pPr>
            <a:r>
              <a:t>Transformer block 구성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109728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2024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rial"/>
              </a:defRPr>
            </a:pPr>
            <a:r>
              <a:t>Encoder/Decoder + Attention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063240"/>
            <a:ext cx="2148840" cy="1234440"/>
          </a:xfrm>
          <a:prstGeom prst="roundRect">
            <a:avLst/>
          </a:prstGeom>
          <a:solidFill>
            <a:srgbClr val="F7F0FF"/>
          </a:solidFill>
          <a:ln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050"/>
                </a:solidFill>
                <a:latin typeface="Arial"/>
              </a:defRPr>
            </a:pPr>
            <a:r>
              <a:t>Embedding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3063240"/>
            <a:ext cx="2148840" cy="1234440"/>
          </a:xfrm>
          <a:prstGeom prst="roundRect">
            <a:avLst/>
          </a:prstGeom>
          <a:solidFill>
            <a:srgbClr val="EFF4FF"/>
          </a:solidFill>
          <a:ln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050"/>
                </a:solidFill>
                <a:latin typeface="Arial"/>
              </a:defRPr>
            </a:pPr>
            <a:r>
              <a:t>Multi-Head</a:t>
            </a:r>
            <a:br/>
            <a:r>
              <a:t>Attention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3063240"/>
            <a:ext cx="2148840" cy="1234440"/>
          </a:xfrm>
          <a:prstGeom prst="roundRect">
            <a:avLst/>
          </a:prstGeom>
          <a:solidFill>
            <a:srgbClr val="F7F0FF"/>
          </a:solidFill>
          <a:ln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050"/>
                </a:solidFill>
                <a:latin typeface="Arial"/>
              </a:defRPr>
            </a:pPr>
            <a:r>
              <a:t>FFN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33103" y="3063240"/>
            <a:ext cx="2148840" cy="1234440"/>
          </a:xfrm>
          <a:prstGeom prst="roundRect">
            <a:avLst/>
          </a:prstGeom>
          <a:solidFill>
            <a:srgbClr val="EFF4FF"/>
          </a:solidFill>
          <a:ln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E2050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73552" y="3474720"/>
            <a:ext cx="384048" cy="384048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852160" y="3474720"/>
            <a:ext cx="384048" cy="384048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8430767" y="3474720"/>
            <a:ext cx="384048" cy="384048"/>
          </a:xfrm>
          <a:prstGeom prst="rightArrow">
            <a:avLst/>
          </a:prstGeom>
          <a:solidFill>
            <a:srgbClr val="3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72600" y="27432"/>
            <a:ext cx="265176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AEFFF"/>
                </a:solidFill>
                <a:latin typeface="Arial"/>
              </a:defRPr>
            </a:pPr>
            <a:r>
              <a:t>2026-03-31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rial"/>
              </a:defRPr>
            </a:pPr>
            <a:r>
              <a:t>최재영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644652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rial"/>
              </a:defRPr>
            </a:pPr>
            <a:r>
              <a:t>Attention Is All You Need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E2050"/>
                </a:solidFill>
                <a:latin typeface="Arial"/>
              </a:defRPr>
            </a:pPr>
            <a:r>
              <a:t>Core 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26D8A"/>
                </a:solidFill>
                <a:latin typeface="Arial"/>
              </a:defRPr>
            </a:pPr>
            <a:r>
              <a:t>Scaled Dot-Product 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83080"/>
            <a:ext cx="1097280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92024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C8C"/>
                </a:solidFill>
                <a:latin typeface="Arial"/>
              </a:defRPr>
            </a:pPr>
            <a:r>
              <a:t>Attention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95728"/>
            <a:ext cx="1024128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A3C8C"/>
                </a:solidFill>
                <a:latin typeface="Arial"/>
              </a:defRPr>
            </a:pPr>
            <a:r>
              <a:t>Attention(Q, K, V) = softmax(QK^T / sqrt(d_k))V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10128"/>
            <a:ext cx="10241280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632"/>
                </a:solidFill>
                <a:latin typeface="Arial"/>
              </a:defRPr>
            </a:pPr>
            <a:r>
              <a:t>• QK^T로 토큰 간 관련도를 계산</a:t>
            </a:r>
          </a:p>
          <a:p>
            <a:pPr>
              <a:spcAft>
                <a:spcPts val="1000"/>
              </a:spcAft>
              <a:defRPr sz="2200">
                <a:solidFill>
                  <a:srgbClr val="222632"/>
                </a:solidFill>
                <a:latin typeface="Arial"/>
              </a:defRPr>
            </a:pPr>
            <a:r>
              <a:t>• sqrt(d_k) 스케일링으로 학습 안정성 개선</a:t>
            </a:r>
          </a:p>
          <a:p>
            <a:pPr>
              <a:spcAft>
                <a:spcPts val="1000"/>
              </a:spcAft>
              <a:defRPr sz="2200">
                <a:solidFill>
                  <a:srgbClr val="222632"/>
                </a:solidFill>
                <a:latin typeface="Arial"/>
              </a:defRPr>
            </a:pPr>
            <a:r>
              <a:t>• V 가중합으로 문맥 표현 생성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72600" y="27432"/>
            <a:ext cx="265176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AEFFF"/>
                </a:solidFill>
                <a:latin typeface="Arial"/>
              </a:defRPr>
            </a:pPr>
            <a:r>
              <a:t>2026-03-31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rial"/>
              </a:defRPr>
            </a:pPr>
            <a:r>
              <a:t>최재영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644652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rial"/>
              </a:defRPr>
            </a:pPr>
            <a:r>
              <a:t>Attention Is All You Need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E2050"/>
                </a:solidFill>
                <a:latin typeface="Arial"/>
              </a:defRPr>
            </a:pPr>
            <a:r>
              <a:t>Results and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26D8A"/>
                </a:solidFill>
                <a:latin typeface="Arial"/>
              </a:defRPr>
            </a:pPr>
            <a:r>
              <a:t>Transformer 이후 핵심 변화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47088"/>
            <a:ext cx="3520440" cy="4279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66543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C8C"/>
                </a:solidFill>
                <a:latin typeface="Arial"/>
              </a:defRPr>
            </a:pPr>
            <a:r>
              <a:t>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743200"/>
            <a:ext cx="3127248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22632"/>
                </a:solidFill>
                <a:latin typeface="Arial"/>
              </a:defRPr>
            </a:pPr>
            <a:r>
              <a:t>Recurrence 중심에서 Attention 중심으로 전환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847088"/>
            <a:ext cx="3520440" cy="4279392"/>
          </a:xfrm>
          <a:prstGeom prst="roundRect">
            <a:avLst>
              <a:gd name="adj" fmla="val 5000"/>
            </a:avLst>
          </a:prstGeom>
          <a:solidFill>
            <a:srgbClr val="EFF4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66543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C8C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3127248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22632"/>
                </a:solidFill>
                <a:latin typeface="Arial"/>
              </a:defRPr>
            </a:pPr>
            <a:r>
              <a:t>병렬 학습 효율을 크게 향상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847088"/>
            <a:ext cx="3520440" cy="4279392"/>
          </a:xfrm>
          <a:prstGeom prst="roundRect">
            <a:avLst>
              <a:gd name="adj" fmla="val 5000"/>
            </a:avLst>
          </a:prstGeom>
          <a:solidFill>
            <a:srgbClr val="F7F0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2066543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C8C"/>
                </a:solidFill>
                <a:latin typeface="Arial"/>
              </a:defRPr>
            </a:pPr>
            <a:r>
              <a:t>Legacy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743200"/>
            <a:ext cx="3127248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22632"/>
                </a:solidFill>
                <a:latin typeface="Arial"/>
              </a:defRPr>
            </a:pPr>
            <a:r>
              <a:t>BERT/GPT 등 현대 LLM 기반 확립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A3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72600" y="27432"/>
            <a:ext cx="2651760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 b="1">
                <a:solidFill>
                  <a:srgbClr val="EAEFFF"/>
                </a:solidFill>
                <a:latin typeface="Arial"/>
              </a:defRPr>
            </a:pPr>
            <a:r>
              <a:t>2026-03-31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26D8A"/>
                </a:solidFill>
                <a:latin typeface="Arial"/>
              </a:defRPr>
            </a:pPr>
            <a:r>
              <a:t>최재영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644652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26D8A"/>
                </a:solidFill>
                <a:latin typeface="Arial"/>
              </a:defRPr>
            </a:pPr>
            <a:r>
              <a:t>Attention Is All You Need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292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E2050"/>
                </a:solidFill>
                <a:latin typeface="Arial"/>
              </a:defRPr>
            </a:pPr>
            <a:r>
              <a:t>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887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26D8A"/>
                </a:solidFill>
                <a:latin typeface="Arial"/>
              </a:defRPr>
            </a:pPr>
            <a:r>
              <a:t>발표 후 기억할 3가지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28800"/>
            <a:ext cx="1097280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B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1752" tIns="658368"/>
          <a:lstStyle/>
          <a:p>
            <a:pPr algn="ctr">
              <a:spcAft>
                <a:spcPts val="1200"/>
              </a:spcAft>
              <a:defRPr sz="2800" b="1">
                <a:solidFill>
                  <a:srgbClr val="0E2050"/>
                </a:solidFill>
                <a:latin typeface="Arial"/>
              </a:defRPr>
            </a:pPr>
            <a:r>
              <a:t>1. Transformer 이해는 LLM 이해의 출발점이다.</a:t>
            </a:r>
          </a:p>
          <a:p>
            <a:pPr>
              <a:spcAft>
                <a:spcPts val="1200"/>
              </a:spcAft>
              <a:defRPr sz="2800" b="1">
                <a:solidFill>
                  <a:srgbClr val="0E2050"/>
                </a:solidFill>
                <a:latin typeface="Arial"/>
              </a:defRPr>
            </a:pPr>
            <a:r>
              <a:t>2. 모델 품질과 연산 효율을 함께 봐야 한다.</a:t>
            </a:r>
          </a:p>
          <a:p>
            <a:pPr>
              <a:spcAft>
                <a:spcPts val="1200"/>
              </a:spcAft>
              <a:defRPr sz="2800" b="1">
                <a:solidFill>
                  <a:srgbClr val="0E2050"/>
                </a:solidFill>
                <a:latin typeface="Arial"/>
              </a:defRPr>
            </a:pPr>
            <a:r>
              <a:t>3. Attention 설계 선택이 성능 차이를 만든다.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
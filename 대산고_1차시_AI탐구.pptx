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E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E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0"/>
            <a:ext cx="121916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DCE8FF"/>
                </a:solidFill>
                <a:latin typeface="Apple SD Gothic Neo"/>
              </a:defRPr>
            </a:pPr>
            <a:r>
              <a:t>대산고등학교  AI·SW 탐구 프로그램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45920" y="1417320"/>
            <a:ext cx="8897112" cy="2286000"/>
          </a:xfrm>
          <a:prstGeom prst="roundRect">
            <a:avLst>
              <a:gd name="adj" fmla="val 4000"/>
            </a:avLst>
          </a:prstGeom>
          <a:solidFill>
            <a:srgbClr val="1E326E"/>
          </a:solidFill>
          <a:ln w="12700">
            <a:solidFill>
              <a:srgbClr val="D2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600200"/>
            <a:ext cx="85313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CE8FF"/>
                </a:solidFill>
                <a:latin typeface="Apple SD Gothic Neo"/>
              </a:defRPr>
            </a:pPr>
            <a:r>
              <a:t>1차시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965960"/>
            <a:ext cx="85313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Apple SD Gothic Neo"/>
              </a:defRPr>
            </a:pPr>
            <a:r>
              <a:t>AI 도구 활용법 &amp;</a:t>
            </a:r>
            <a:br/>
            <a:r>
              <a:t>탐구 주제 선정과 보고서 작성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971800"/>
            <a:ext cx="8531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08CFF"/>
                </a:solidFill>
                <a:latin typeface="Apple SD Gothic Neo"/>
              </a:defRPr>
            </a:pPr>
            <a:r>
              <a:t>VSCode · GitHub Copilot · 자료조사 · 탐구 보고서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06908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CE8FF"/>
                </a:solidFill>
                <a:latin typeface="Apple SD Gothic Neo"/>
              </a:defRPr>
            </a:pPr>
            <a:r>
              <a:t>2026년 4월  |  지도: 최재영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526280"/>
            <a:ext cx="121916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08C"/>
                </a:solidFill>
                <a:latin typeface="Apple SD Gothic Neo"/>
              </a:defRPr>
            </a:pPr>
            <a:r>
              <a:t>학생 5명  ·  2시간 수업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7315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C8D2F0"/>
                </a:solidFill>
                <a:latin typeface="Apple SD Gothic Neo"/>
              </a:defRPr>
            </a:pPr>
            <a:r>
              <a:t>2026. 04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C3E6"/>
                </a:solidFill>
                <a:latin typeface="Apple SD Gothic Neo"/>
              </a:defRPr>
            </a:pPr>
            <a:r>
              <a:t>최재영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44652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4C3E6"/>
                </a:solidFill>
                <a:latin typeface="Apple SD Gothic Neo"/>
              </a:defRPr>
            </a:pPr>
            <a:r>
              <a:t>대산고 AI·SW 탐구 프로그램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1E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512064"/>
            <a:ext cx="530352" cy="365760"/>
          </a:xfrm>
          <a:prstGeom prst="roundRect">
            <a:avLst>
              <a:gd name="adj" fmla="val 8000"/>
            </a:avLst>
          </a:prstGeom>
          <a:solidFill>
            <a:srgbClr val="1E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ple SD Gothic Neo"/>
              </a:defRPr>
            </a:pPr>
            <a:r>
              <a:t>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457200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21E48"/>
                </a:solidFill>
                <a:latin typeface="Apple SD Gothic Neo"/>
              </a:defRPr>
            </a:pPr>
            <a:r>
              <a:t>오늘의 목표</a:t>
            </a:r>
          </a:p>
        </p:txBody>
      </p:sp>
      <p:sp>
        <p:nvSpPr>
          <p:cNvPr id="5" name="Rectangle 4"/>
          <p:cNvSpPr/>
          <p:nvPr/>
        </p:nvSpPr>
        <p:spPr>
          <a:xfrm>
            <a:off x="1234440" y="950976"/>
            <a:ext cx="10058400" cy="22860"/>
          </a:xfrm>
          <a:prstGeom prst="rect">
            <a:avLst/>
          </a:prstGeom>
          <a:solidFill>
            <a:srgbClr val="1E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61872" y="1024128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08C"/>
                </a:solidFill>
                <a:latin typeface="Apple SD Gothic Neo"/>
              </a:defRPr>
            </a:pPr>
            <a:r>
              <a:t>1차시가 끝나면 이것들을 할 수 있어야 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7315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4708C"/>
                </a:solidFill>
                <a:latin typeface="Apple SD Gothic Neo"/>
              </a:defRPr>
            </a:pPr>
            <a:r>
              <a:t>2026. 04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08C"/>
                </a:solidFill>
                <a:latin typeface="Apple SD Gothic Neo"/>
              </a:defRPr>
            </a:pPr>
            <a:r>
              <a:t>최재영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4652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08C"/>
                </a:solidFill>
                <a:latin typeface="Apple SD Gothic Neo"/>
              </a:defRPr>
            </a:pPr>
            <a:r>
              <a:t>대산고 AI·SW 탐구 프로그램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508760"/>
            <a:ext cx="10698480" cy="1051560"/>
          </a:xfrm>
          <a:prstGeom prst="roundRect">
            <a:avLst>
              <a:gd name="adj" fmla="val 4000"/>
            </a:avLst>
          </a:prstGeom>
          <a:solidFill>
            <a:srgbClr val="E8F0FF"/>
          </a:solidFill>
          <a:ln w="12700">
            <a:solidFill>
              <a:srgbClr val="D2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1691639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1E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691639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ple SD Gothic Neo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645919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21E48"/>
                </a:solidFill>
                <a:latin typeface="Apple SD Gothic Neo"/>
              </a:defRPr>
            </a:pPr>
            <a:r>
              <a:t>VSCode 설치 &amp; AI 확장 도구 세팅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01168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08C"/>
                </a:solidFill>
                <a:latin typeface="Apple SD Gothic Neo"/>
              </a:defRPr>
            </a:pPr>
            <a:r>
              <a:t>개발 환경을 직접 꾸며봅니다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743200"/>
            <a:ext cx="10698480" cy="1051560"/>
          </a:xfrm>
          <a:prstGeom prst="roundRect">
            <a:avLst>
              <a:gd name="adj" fmla="val 4000"/>
            </a:avLst>
          </a:prstGeom>
          <a:solidFill>
            <a:srgbClr val="E6F8EE"/>
          </a:solidFill>
          <a:ln w="12700">
            <a:solidFill>
              <a:srgbClr val="D2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" y="2926080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1E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92608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ple SD Gothic Neo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2880360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21E48"/>
                </a:solidFill>
                <a:latin typeface="Apple SD Gothic Neo"/>
              </a:defRPr>
            </a:pPr>
            <a:r>
              <a:t>AI 코딩 도구 활용법 체험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24612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08C"/>
                </a:solidFill>
                <a:latin typeface="Apple SD Gothic Neo"/>
              </a:defRPr>
            </a:pPr>
            <a:r>
              <a:t>Copilot / Codeium으로 코드 작성 실습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977639"/>
            <a:ext cx="10698480" cy="1051560"/>
          </a:xfrm>
          <a:prstGeom prst="roundRect">
            <a:avLst>
              <a:gd name="adj" fmla="val 4000"/>
            </a:avLst>
          </a:prstGeom>
          <a:solidFill>
            <a:srgbClr val="FFF4E6"/>
          </a:solidFill>
          <a:ln w="12700">
            <a:solidFill>
              <a:srgbClr val="D2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4400" y="4160520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1E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16052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ple SD Gothic Neo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114800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21E48"/>
                </a:solidFill>
                <a:latin typeface="Apple SD Gothic Neo"/>
              </a:defRPr>
            </a:pPr>
            <a:r>
              <a:t>좋은 탐구 주제 만드는 법 이해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480559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08C"/>
                </a:solidFill>
                <a:latin typeface="Apple SD Gothic Neo"/>
              </a:defRPr>
            </a:pPr>
            <a:r>
              <a:t>넓은 주제 → 구체적 질문으로 전환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212080"/>
            <a:ext cx="10698480" cy="1051560"/>
          </a:xfrm>
          <a:prstGeom prst="roundRect">
            <a:avLst>
              <a:gd name="adj" fmla="val 4000"/>
            </a:avLst>
          </a:prstGeom>
          <a:solidFill>
            <a:srgbClr val="F2EBFF"/>
          </a:solidFill>
          <a:ln w="12700">
            <a:solidFill>
              <a:srgbClr val="D2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14400" y="5394960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1E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39496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ple SD Gothic Neo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5349240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21E48"/>
                </a:solidFill>
                <a:latin typeface="Apple SD Gothic Neo"/>
              </a:defRPr>
            </a:pPr>
            <a:r>
              <a:t>보고서 구조 &amp; 자료조사 방법 파악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571500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08C"/>
                </a:solidFill>
                <a:latin typeface="Apple SD Gothic Neo"/>
              </a:defRPr>
            </a:pPr>
            <a:r>
              <a:t>다음 차시에 바로 활용 가능한 수준으로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1E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512064"/>
            <a:ext cx="530352" cy="365760"/>
          </a:xfrm>
          <a:prstGeom prst="roundRect">
            <a:avLst>
              <a:gd name="adj" fmla="val 8000"/>
            </a:avLst>
          </a:prstGeom>
          <a:solidFill>
            <a:srgbClr val="1E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ple SD Gothic Neo"/>
              </a:defRPr>
            </a:pPr>
            <a:r>
              <a:t>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457200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21E48"/>
                </a:solidFill>
                <a:latin typeface="Apple SD Gothic Neo"/>
              </a:defRPr>
            </a:pPr>
            <a:r>
              <a:t>수업 흐름 (2시간)</a:t>
            </a:r>
          </a:p>
        </p:txBody>
      </p:sp>
      <p:sp>
        <p:nvSpPr>
          <p:cNvPr id="5" name="Rectangle 4"/>
          <p:cNvSpPr/>
          <p:nvPr/>
        </p:nvSpPr>
        <p:spPr>
          <a:xfrm>
            <a:off x="1234440" y="950976"/>
            <a:ext cx="10058400" cy="22860"/>
          </a:xfrm>
          <a:prstGeom prst="rect">
            <a:avLst/>
          </a:prstGeom>
          <a:solidFill>
            <a:srgbClr val="1E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61872" y="1024128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08C"/>
                </a:solidFill>
                <a:latin typeface="Apple SD Gothic Neo"/>
              </a:defRPr>
            </a:pPr>
            <a:r>
              <a:t>1시간씩 두 파트로 진행합니다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7315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4708C"/>
                </a:solidFill>
                <a:latin typeface="Apple SD Gothic Neo"/>
              </a:defRPr>
            </a:pPr>
            <a:r>
              <a:t>2026. 04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08C"/>
                </a:solidFill>
                <a:latin typeface="Apple SD Gothic Neo"/>
              </a:defRPr>
            </a:pPr>
            <a:r>
              <a:t>최재영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4652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08C"/>
                </a:solidFill>
                <a:latin typeface="Apple SD Gothic Neo"/>
              </a:defRPr>
            </a:pPr>
            <a:r>
              <a:t>대산고 AI·SW 탐구 프로그램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508760"/>
            <a:ext cx="5212080" cy="4389120"/>
          </a:xfrm>
          <a:prstGeom prst="roundRect">
            <a:avLst>
              <a:gd name="adj" fmla="val 4000"/>
            </a:avLst>
          </a:prstGeom>
          <a:solidFill>
            <a:srgbClr val="E8F0FF"/>
          </a:solidFill>
          <a:ln w="12700">
            <a:solidFill>
              <a:srgbClr val="D2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636776"/>
            <a:ext cx="4809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40A0"/>
                </a:solidFill>
                <a:latin typeface="Apple SD Gothic Neo"/>
              </a:defRPr>
            </a:pPr>
            <a:r>
              <a:t>PART 1  ·  AI 도구 활용 (60분)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148840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02430"/>
                </a:solidFill>
                <a:latin typeface="Apple SD Gothic Neo"/>
              </a:defRPr>
            </a:pPr>
            <a:r>
              <a:t>• VSCode 설치 &amp; 기본 사용법</a:t>
            </a:r>
          </a:p>
          <a:p>
            <a:pPr>
              <a:spcAft>
                <a:spcPts val="1000"/>
              </a:spcAft>
              <a:defRPr sz="1600">
                <a:solidFill>
                  <a:srgbClr val="202430"/>
                </a:solidFill>
                <a:latin typeface="Apple SD Gothic Neo"/>
              </a:defRPr>
            </a:pPr>
            <a:r>
              <a:t>• 필수 확장 프로그램 설치</a:t>
            </a:r>
          </a:p>
          <a:p>
            <a:pPr>
              <a:spcAft>
                <a:spcPts val="1000"/>
              </a:spcAft>
              <a:defRPr sz="1600">
                <a:solidFill>
                  <a:srgbClr val="202430"/>
                </a:solidFill>
                <a:latin typeface="Apple SD Gothic Neo"/>
              </a:defRPr>
            </a:pPr>
            <a:r>
              <a:t>• GitHub Copilot / Codeium 세팅</a:t>
            </a:r>
          </a:p>
          <a:p>
            <a:pPr>
              <a:spcAft>
                <a:spcPts val="1000"/>
              </a:spcAft>
              <a:defRPr sz="1600">
                <a:solidFill>
                  <a:srgbClr val="202430"/>
                </a:solidFill>
                <a:latin typeface="Apple SD Gothic Neo"/>
              </a:defRPr>
            </a:pPr>
            <a:r>
              <a:t>• AI와 함께 코드 작성 실습</a:t>
            </a:r>
          </a:p>
          <a:p>
            <a:pPr>
              <a:spcAft>
                <a:spcPts val="1000"/>
              </a:spcAft>
              <a:defRPr sz="1600">
                <a:solidFill>
                  <a:srgbClr val="202430"/>
                </a:solidFill>
                <a:latin typeface="Apple SD Gothic Neo"/>
              </a:defRPr>
            </a:pPr>
            <a:r>
              <a:t>• 프롬프트 작성 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508760"/>
            <a:ext cx="5212080" cy="4389120"/>
          </a:xfrm>
          <a:prstGeom prst="roundRect">
            <a:avLst>
              <a:gd name="adj" fmla="val 4000"/>
            </a:avLst>
          </a:prstGeom>
          <a:solidFill>
            <a:srgbClr val="FFF4E6"/>
          </a:solidFill>
          <a:ln w="12700">
            <a:solidFill>
              <a:srgbClr val="D2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7" y="1636776"/>
            <a:ext cx="4809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C781E"/>
                </a:solidFill>
                <a:latin typeface="Apple SD Gothic Neo"/>
              </a:defRPr>
            </a:pPr>
            <a:r>
              <a:t>PART 2  ·  탐구 &amp; 보고서 (60분)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148840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02430"/>
                </a:solidFill>
                <a:latin typeface="Apple SD Gothic Neo"/>
              </a:defRPr>
            </a:pPr>
            <a:r>
              <a:t>• 좋은 탐구 주제의 조건</a:t>
            </a:r>
          </a:p>
          <a:p>
            <a:pPr>
              <a:spcAft>
                <a:spcPts val="1000"/>
              </a:spcAft>
              <a:defRPr sz="1600">
                <a:solidFill>
                  <a:srgbClr val="202430"/>
                </a:solidFill>
                <a:latin typeface="Apple SD Gothic Neo"/>
              </a:defRPr>
            </a:pPr>
            <a:r>
              <a:t>• 주제를 질문으로 바꾸는 방법</a:t>
            </a:r>
          </a:p>
          <a:p>
            <a:pPr>
              <a:spcAft>
                <a:spcPts val="1000"/>
              </a:spcAft>
              <a:defRPr sz="1600">
                <a:solidFill>
                  <a:srgbClr val="202430"/>
                </a:solidFill>
                <a:latin typeface="Apple SD Gothic Neo"/>
              </a:defRPr>
            </a:pPr>
            <a:r>
              <a:t>• 자료 조사 &amp; 신뢰도 판단</a:t>
            </a:r>
          </a:p>
          <a:p>
            <a:pPr>
              <a:spcAft>
                <a:spcPts val="1000"/>
              </a:spcAft>
              <a:defRPr sz="1600">
                <a:solidFill>
                  <a:srgbClr val="202430"/>
                </a:solidFill>
                <a:latin typeface="Apple SD Gothic Neo"/>
              </a:defRPr>
            </a:pPr>
            <a:r>
              <a:t>• 보고서 기본 구조</a:t>
            </a:r>
          </a:p>
          <a:p>
            <a:pPr>
              <a:spcAft>
                <a:spcPts val="1000"/>
              </a:spcAft>
              <a:defRPr sz="1600">
                <a:solidFill>
                  <a:srgbClr val="202430"/>
                </a:solidFill>
                <a:latin typeface="Apple SD Gothic Neo"/>
              </a:defRPr>
            </a:pPr>
            <a:r>
              <a:t>• 과제 안내 &amp; Q&amp;A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E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E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01168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508CFF"/>
                </a:solidFill>
                <a:latin typeface="Apple SD Gothic Neo"/>
              </a:defRPr>
            </a:pPr>
            <a:r>
              <a:t>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74320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Apple SD Gothic Neo"/>
              </a:defRPr>
            </a:pPr>
            <a:r>
              <a:t>PART 1</a:t>
            </a:r>
            <a:br/>
            <a:r>
              <a:t>AI 도구 활용법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7315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C8D2F0"/>
                </a:solidFill>
                <a:latin typeface="Apple SD Gothic Neo"/>
              </a:defRPr>
            </a:pPr>
            <a:r>
              <a:t>2026. 04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C3E6"/>
                </a:solidFill>
                <a:latin typeface="Apple SD Gothic Neo"/>
              </a:defRPr>
            </a:pPr>
            <a:r>
              <a:t>최재영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44652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4C3E6"/>
                </a:solidFill>
                <a:latin typeface="Apple SD Gothic Neo"/>
              </a:defRPr>
            </a:pPr>
            <a:r>
              <a:t>대산고 AI·SW 탐구 프로그램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1E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512064"/>
            <a:ext cx="530352" cy="365760"/>
          </a:xfrm>
          <a:prstGeom prst="roundRect">
            <a:avLst>
              <a:gd name="adj" fmla="val 8000"/>
            </a:avLst>
          </a:prstGeom>
          <a:solidFill>
            <a:srgbClr val="1E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ple SD Gothic Neo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457200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21E48"/>
                </a:solidFill>
                <a:latin typeface="Apple SD Gothic Neo"/>
              </a:defRPr>
            </a:pPr>
            <a:r>
              <a:t>VSCode란?</a:t>
            </a:r>
          </a:p>
        </p:txBody>
      </p:sp>
      <p:sp>
        <p:nvSpPr>
          <p:cNvPr id="5" name="Rectangle 4"/>
          <p:cNvSpPr/>
          <p:nvPr/>
        </p:nvSpPr>
        <p:spPr>
          <a:xfrm>
            <a:off x="1234440" y="950976"/>
            <a:ext cx="10058400" cy="22860"/>
          </a:xfrm>
          <a:prstGeom prst="rect">
            <a:avLst/>
          </a:prstGeom>
          <a:solidFill>
            <a:srgbClr val="1E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61872" y="1024128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08C"/>
                </a:solidFill>
                <a:latin typeface="Apple SD Gothic Neo"/>
              </a:defRPr>
            </a:pPr>
            <a:r>
              <a:t>가볍고 강력한 코드 에디터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7315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4708C"/>
                </a:solidFill>
                <a:latin typeface="Apple SD Gothic Neo"/>
              </a:defRPr>
            </a:pPr>
            <a:r>
              <a:t>2026. 04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08C"/>
                </a:solidFill>
                <a:latin typeface="Apple SD Gothic Neo"/>
              </a:defRPr>
            </a:pPr>
            <a:r>
              <a:t>최재영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4652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08C"/>
                </a:solidFill>
                <a:latin typeface="Apple SD Gothic Neo"/>
              </a:defRPr>
            </a:pPr>
            <a:r>
              <a:t>대산고 AI·SW 탐구 프로그램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508760"/>
            <a:ext cx="640080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2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636776"/>
            <a:ext cx="59984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40A0"/>
                </a:solidFill>
                <a:latin typeface="Apple SD Gothic Neo"/>
              </a:defRPr>
            </a:pPr>
            <a:r>
              <a:t>Visual Studio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103120"/>
            <a:ext cx="5852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02430"/>
                </a:solidFill>
                <a:latin typeface="Apple SD Gothic Neo"/>
              </a:defRPr>
            </a:pPr>
            <a:r>
              <a:t>• Microsoft가 만든 무료 코드 편집기</a:t>
            </a:r>
          </a:p>
          <a:p>
            <a:pPr>
              <a:spcAft>
                <a:spcPts val="600"/>
              </a:spcAft>
              <a:defRPr sz="1500">
                <a:solidFill>
                  <a:srgbClr val="202430"/>
                </a:solidFill>
                <a:latin typeface="Apple SD Gothic Neo"/>
              </a:defRPr>
            </a:pPr>
            <a:r>
              <a:t>• Windows / Mac / Linux 모두 지원</a:t>
            </a:r>
          </a:p>
          <a:p>
            <a:pPr>
              <a:spcAft>
                <a:spcPts val="600"/>
              </a:spcAft>
              <a:defRPr sz="1500">
                <a:solidFill>
                  <a:srgbClr val="202430"/>
                </a:solidFill>
                <a:latin typeface="Apple SD Gothic Neo"/>
              </a:defRPr>
            </a:pPr>
            <a:r>
              <a:t>• 확장 프로그램으로 기능 무한 확장</a:t>
            </a:r>
          </a:p>
          <a:p>
            <a:pPr>
              <a:spcAft>
                <a:spcPts val="600"/>
              </a:spcAft>
              <a:defRPr sz="1500">
                <a:solidFill>
                  <a:srgbClr val="202430"/>
                </a:solidFill>
                <a:latin typeface="Apple SD Gothic Neo"/>
              </a:defRPr>
            </a:pPr>
            <a:r>
              <a:t>• 전 세계 개발자 70%+ 사용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1508760"/>
            <a:ext cx="4023360" cy="2011680"/>
          </a:xfrm>
          <a:prstGeom prst="roundRect">
            <a:avLst>
              <a:gd name="adj" fmla="val 4000"/>
            </a:avLst>
          </a:prstGeom>
          <a:solidFill>
            <a:srgbClr val="E6F8EE"/>
          </a:solidFill>
          <a:ln w="12700">
            <a:solidFill>
              <a:srgbClr val="D2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99248" y="1636776"/>
            <a:ext cx="3621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8B5E"/>
                </a:solidFill>
                <a:latin typeface="Apple SD Gothic Neo"/>
              </a:defRPr>
            </a:pPr>
            <a:r>
              <a:t>설치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1031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02430"/>
                </a:solidFill>
                <a:latin typeface="Apple SD Gothic Neo"/>
              </a:defRPr>
            </a:pPr>
            <a:r>
              <a:t>• code.visualstudio.com 접속</a:t>
            </a:r>
          </a:p>
          <a:p>
            <a:pPr>
              <a:spcAft>
                <a:spcPts val="600"/>
              </a:spcAft>
              <a:defRPr sz="1400">
                <a:solidFill>
                  <a:srgbClr val="202430"/>
                </a:solidFill>
                <a:latin typeface="Apple SD Gothic Neo"/>
              </a:defRPr>
            </a:pPr>
            <a:r>
              <a:t>• OS에 맞는 버전 다운로드</a:t>
            </a:r>
          </a:p>
          <a:p>
            <a:pPr>
              <a:spcAft>
                <a:spcPts val="600"/>
              </a:spcAft>
              <a:defRPr sz="1400">
                <a:solidFill>
                  <a:srgbClr val="202430"/>
                </a:solidFill>
                <a:latin typeface="Apple SD Gothic Neo"/>
              </a:defRPr>
            </a:pPr>
            <a:r>
              <a:t>• 설치 후 한국어 팩 설치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794760"/>
            <a:ext cx="10789920" cy="2286000"/>
          </a:xfrm>
          <a:prstGeom prst="roundRect">
            <a:avLst>
              <a:gd name="adj" fmla="val 4000"/>
            </a:avLst>
          </a:prstGeom>
          <a:solidFill>
            <a:srgbClr val="E8F0FF"/>
          </a:solidFill>
          <a:ln w="12700">
            <a:solidFill>
              <a:srgbClr val="D2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3922776"/>
            <a:ext cx="10387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40A0"/>
                </a:solidFill>
                <a:latin typeface="Apple SD Gothic Neo"/>
              </a:defRPr>
            </a:pPr>
            <a:r>
              <a:t>왜 VSCode인가?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389120"/>
            <a:ext cx="10241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02430"/>
                </a:solidFill>
                <a:latin typeface="Apple SD Gothic Neo"/>
              </a:defRPr>
            </a:pPr>
            <a:r>
              <a:t>• 가볍고 빠름 — 메모장처럼 열리지만, IDE 수준의 기능</a:t>
            </a:r>
          </a:p>
          <a:p>
            <a:pPr>
              <a:spcAft>
                <a:spcPts val="600"/>
              </a:spcAft>
              <a:defRPr sz="1500">
                <a:solidFill>
                  <a:srgbClr val="202430"/>
                </a:solidFill>
                <a:latin typeface="Apple SD Gothic Neo"/>
              </a:defRPr>
            </a:pPr>
            <a:r>
              <a:t>• AI 도구와의 통합이 가장 잘 됨 — Copilot, Codeium, Cursor 등</a:t>
            </a:r>
          </a:p>
          <a:p>
            <a:pPr>
              <a:spcAft>
                <a:spcPts val="600"/>
              </a:spcAft>
              <a:defRPr sz="1500">
                <a:solidFill>
                  <a:srgbClr val="202430"/>
                </a:solidFill>
                <a:latin typeface="Apple SD Gothic Neo"/>
              </a:defRPr>
            </a:pPr>
            <a:r>
              <a:t>• Python, JavaScript, HTML 등 거의 모든 언어 지원</a:t>
            </a:r>
          </a:p>
          <a:p>
            <a:pPr>
              <a:spcAft>
                <a:spcPts val="600"/>
              </a:spcAft>
              <a:defRPr sz="1500">
                <a:solidFill>
                  <a:srgbClr val="202430"/>
                </a:solidFill>
                <a:latin typeface="Apple SD Gothic Neo"/>
              </a:defRPr>
            </a:pPr>
            <a:r>
              <a:t>• 터미널 내장 — 코드 작성과 실행을 한 곳에서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1E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512064"/>
            <a:ext cx="530352" cy="365760"/>
          </a:xfrm>
          <a:prstGeom prst="roundRect">
            <a:avLst>
              <a:gd name="adj" fmla="val 8000"/>
            </a:avLst>
          </a:prstGeom>
          <a:solidFill>
            <a:srgbClr val="1E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ple SD Gothic Neo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457200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21E48"/>
                </a:solidFill>
                <a:latin typeface="Apple SD Gothic Neo"/>
              </a:defRPr>
            </a:pPr>
            <a:r>
              <a:t>필수 확장 프로그램</a:t>
            </a:r>
          </a:p>
        </p:txBody>
      </p:sp>
      <p:sp>
        <p:nvSpPr>
          <p:cNvPr id="5" name="Rectangle 4"/>
          <p:cNvSpPr/>
          <p:nvPr/>
        </p:nvSpPr>
        <p:spPr>
          <a:xfrm>
            <a:off x="1234440" y="950976"/>
            <a:ext cx="10058400" cy="22860"/>
          </a:xfrm>
          <a:prstGeom prst="rect">
            <a:avLst/>
          </a:prstGeom>
          <a:solidFill>
            <a:srgbClr val="1E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61872" y="1024128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08C"/>
                </a:solidFill>
                <a:latin typeface="Apple SD Gothic Neo"/>
              </a:defRPr>
            </a:pPr>
            <a:r>
              <a:t>설치하면 바로 쓸 수 있는 것들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7315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4708C"/>
                </a:solidFill>
                <a:latin typeface="Apple SD Gothic Neo"/>
              </a:defRPr>
            </a:pPr>
            <a:r>
              <a:t>2026. 04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08C"/>
                </a:solidFill>
                <a:latin typeface="Apple SD Gothic Neo"/>
              </a:defRPr>
            </a:pPr>
            <a:r>
              <a:t>최재영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4652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08C"/>
                </a:solidFill>
                <a:latin typeface="Apple SD Gothic Neo"/>
              </a:defRPr>
            </a:pPr>
            <a:r>
              <a:t>대산고 AI·SW 탐구 프로그램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508760"/>
            <a:ext cx="5303520" cy="1325880"/>
          </a:xfrm>
          <a:prstGeom prst="roundRect">
            <a:avLst>
              <a:gd name="adj" fmla="val 4000"/>
            </a:avLst>
          </a:prstGeom>
          <a:solidFill>
            <a:srgbClr val="E8F0FF"/>
          </a:solidFill>
          <a:ln w="12700">
            <a:solidFill>
              <a:srgbClr val="D2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691639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21E48"/>
                </a:solidFill>
                <a:latin typeface="Apple SD Gothic Neo"/>
              </a:defRPr>
            </a:pPr>
            <a:r>
              <a:t>Korean Language Pack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1031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08C"/>
                </a:solidFill>
                <a:latin typeface="Apple SD Gothic Neo"/>
              </a:defRPr>
            </a:pPr>
            <a:r>
              <a:t>한국어 인터페이스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508760"/>
            <a:ext cx="5303520" cy="1325880"/>
          </a:xfrm>
          <a:prstGeom prst="roundRect">
            <a:avLst>
              <a:gd name="adj" fmla="val 4000"/>
            </a:avLst>
          </a:prstGeom>
          <a:solidFill>
            <a:srgbClr val="E6F8EE"/>
          </a:solidFill>
          <a:ln w="12700">
            <a:solidFill>
              <a:srgbClr val="D2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1691639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21E48"/>
                </a:solidFill>
                <a:latin typeface="Apple SD Gothic Neo"/>
              </a:defRPr>
            </a:pPr>
            <a:r>
              <a:t>Python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1031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08C"/>
                </a:solidFill>
                <a:latin typeface="Apple SD Gothic Neo"/>
              </a:defRPr>
            </a:pPr>
            <a:r>
              <a:t>Python 코드 실행 &amp; 디버깅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081528"/>
            <a:ext cx="5303520" cy="1325880"/>
          </a:xfrm>
          <a:prstGeom prst="roundRect">
            <a:avLst>
              <a:gd name="adj" fmla="val 4000"/>
            </a:avLst>
          </a:prstGeom>
          <a:solidFill>
            <a:srgbClr val="FFF4E6"/>
          </a:solidFill>
          <a:ln w="12700">
            <a:solidFill>
              <a:srgbClr val="D2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2644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21E48"/>
                </a:solidFill>
                <a:latin typeface="Apple SD Gothic Neo"/>
              </a:defRPr>
            </a:pPr>
            <a:r>
              <a:t>Prettier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67588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08C"/>
                </a:solidFill>
                <a:latin typeface="Apple SD Gothic Neo"/>
              </a:defRPr>
            </a:pPr>
            <a:r>
              <a:t>코드 자동 정리 (포맷팅)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081528"/>
            <a:ext cx="5303520" cy="1325880"/>
          </a:xfrm>
          <a:prstGeom prst="roundRect">
            <a:avLst>
              <a:gd name="adj" fmla="val 4000"/>
            </a:avLst>
          </a:prstGeom>
          <a:solidFill>
            <a:srgbClr val="F2EBFF"/>
          </a:solidFill>
          <a:ln w="12700">
            <a:solidFill>
              <a:srgbClr val="D2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32644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21E48"/>
                </a:solidFill>
                <a:latin typeface="Apple SD Gothic Neo"/>
              </a:defRPr>
            </a:pPr>
            <a:r>
              <a:t>Live Server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367588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08C"/>
                </a:solidFill>
                <a:latin typeface="Apple SD Gothic Neo"/>
              </a:defRPr>
            </a:pPr>
            <a:r>
              <a:t>HTML 실시간 미리보기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654296"/>
            <a:ext cx="5303520" cy="1325880"/>
          </a:xfrm>
          <a:prstGeom prst="roundRect">
            <a:avLst>
              <a:gd name="adj" fmla="val 4000"/>
            </a:avLst>
          </a:prstGeom>
          <a:solidFill>
            <a:srgbClr val="E8F0FF"/>
          </a:solidFill>
          <a:ln w="12700">
            <a:solidFill>
              <a:srgbClr val="D2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83717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21E48"/>
                </a:solidFill>
                <a:latin typeface="Apple SD Gothic Neo"/>
              </a:defRPr>
            </a:pPr>
            <a:r>
              <a:t>GitHub Copilot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24865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08C"/>
                </a:solidFill>
                <a:latin typeface="Apple SD Gothic Neo"/>
              </a:defRPr>
            </a:pPr>
            <a:r>
              <a:t>AI 코드 자동완성 (무료 플랜 가능)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654296"/>
            <a:ext cx="5303520" cy="1325880"/>
          </a:xfrm>
          <a:prstGeom prst="roundRect">
            <a:avLst>
              <a:gd name="adj" fmla="val 4000"/>
            </a:avLst>
          </a:prstGeom>
          <a:solidFill>
            <a:srgbClr val="E6F8EE"/>
          </a:solidFill>
          <a:ln w="12700">
            <a:solidFill>
              <a:srgbClr val="D2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483717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21E48"/>
                </a:solidFill>
                <a:latin typeface="Apple SD Gothic Neo"/>
              </a:defRPr>
            </a:pPr>
            <a:r>
              <a:t>Codeium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524865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08C"/>
                </a:solidFill>
                <a:latin typeface="Apple SD Gothic Neo"/>
              </a:defRPr>
            </a:pPr>
            <a:r>
              <a:t>무료 AI 코딩 보조 도구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1E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512064"/>
            <a:ext cx="530352" cy="365760"/>
          </a:xfrm>
          <a:prstGeom prst="roundRect">
            <a:avLst>
              <a:gd name="adj" fmla="val 8000"/>
            </a:avLst>
          </a:prstGeom>
          <a:solidFill>
            <a:srgbClr val="1E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ple SD Gothic Neo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457200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21E48"/>
                </a:solidFill>
                <a:latin typeface="Apple SD Gothic Neo"/>
              </a:defRPr>
            </a:pPr>
            <a:r>
              <a:t>AI 코딩 도구</a:t>
            </a:r>
          </a:p>
        </p:txBody>
      </p:sp>
      <p:sp>
        <p:nvSpPr>
          <p:cNvPr id="5" name="Rectangle 4"/>
          <p:cNvSpPr/>
          <p:nvPr/>
        </p:nvSpPr>
        <p:spPr>
          <a:xfrm>
            <a:off x="1234440" y="950976"/>
            <a:ext cx="10058400" cy="22860"/>
          </a:xfrm>
          <a:prstGeom prst="rect">
            <a:avLst/>
          </a:prstGeom>
          <a:solidFill>
            <a:srgbClr val="1E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61872" y="1024128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08C"/>
                </a:solidFill>
                <a:latin typeface="Apple SD Gothic Neo"/>
              </a:defRPr>
            </a:pPr>
            <a:r>
              <a:t>코드를 자동으로 완성해주는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7315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4708C"/>
                </a:solidFill>
                <a:latin typeface="Apple SD Gothic Neo"/>
              </a:defRPr>
            </a:pPr>
            <a:r>
              <a:t>2026. 04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08C"/>
                </a:solidFill>
                <a:latin typeface="Apple SD Gothic Neo"/>
              </a:defRPr>
            </a:pPr>
            <a:r>
              <a:t>최재영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4652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08C"/>
                </a:solidFill>
                <a:latin typeface="Apple SD Gothic Neo"/>
              </a:defRPr>
            </a:pPr>
            <a:r>
              <a:t>대산고 AI·SW 탐구 프로그램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508760"/>
            <a:ext cx="10789920" cy="1645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2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914400" y="1691640"/>
          <a:ext cx="1042416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926080"/>
                <a:gridCol w="2743200"/>
                <a:gridCol w="2468880"/>
              </a:tblGrid>
              <a:tr h="3200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도구</a:t>
                      </a:r>
                    </a:p>
                  </a:txBody>
                  <a:tcPr>
                    <a:solidFill>
                      <a:srgbClr val="1E4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특징</a:t>
                      </a:r>
                    </a:p>
                  </a:txBody>
                  <a:tcPr>
                    <a:solidFill>
                      <a:srgbClr val="1E4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가격</a:t>
                      </a:r>
                    </a:p>
                  </a:txBody>
                  <a:tcPr>
                    <a:solidFill>
                      <a:srgbClr val="1E4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ple SD Gothic Neo"/>
                        </a:defRPr>
                      </a:pPr>
                      <a:r>
                        <a:t>추천</a:t>
                      </a:r>
                    </a:p>
                  </a:txBody>
                  <a:tcPr>
                    <a:solidFill>
                      <a:srgbClr val="1E40A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430"/>
                          </a:solidFill>
                          <a:latin typeface="Apple SD Gothic Neo"/>
                        </a:defRPr>
                      </a:pPr>
                      <a:r>
                        <a:t>GitHub Copilot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430"/>
                          </a:solidFill>
                          <a:latin typeface="Apple SD Gothic Neo"/>
                        </a:defRPr>
                      </a:pPr>
                      <a:r>
                        <a:t>가장 강력한 자동완성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430"/>
                          </a:solidFill>
                          <a:latin typeface="Apple SD Gothic Neo"/>
                        </a:defRPr>
                      </a:pPr>
                      <a:r>
                        <a:t>학생 무료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430"/>
                          </a:solidFill>
                          <a:latin typeface="Apple SD Gothic Neo"/>
                        </a:defRPr>
                      </a:pPr>
                      <a:r>
                        <a:t>⭐⭐⭐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430"/>
                          </a:solidFill>
                          <a:latin typeface="Apple SD Gothic Neo"/>
                        </a:defRPr>
                      </a:pPr>
                      <a:r>
                        <a:t>Codeium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430"/>
                          </a:solidFill>
                          <a:latin typeface="Apple SD Gothic Neo"/>
                        </a:defRPr>
                      </a:pPr>
                      <a:r>
                        <a:t>무료 + 빠른 응답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430"/>
                          </a:solidFill>
                          <a:latin typeface="Apple SD Gothic Neo"/>
                        </a:defRPr>
                      </a:pPr>
                      <a:r>
                        <a:t>완전 무료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430"/>
                          </a:solidFill>
                          <a:latin typeface="Apple SD Gothic Neo"/>
                        </a:defRPr>
                      </a:pPr>
                      <a:r>
                        <a:t>⭐⭐⭐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430"/>
                          </a:solidFill>
                          <a:latin typeface="Apple SD Gothic Neo"/>
                        </a:defRPr>
                      </a:pPr>
                      <a:r>
                        <a:t>Cursor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430"/>
                          </a:solidFill>
                          <a:latin typeface="Apple SD Gothic Neo"/>
                        </a:defRPr>
                      </a:pPr>
                      <a:r>
                        <a:t>AI 전용 에디터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430"/>
                          </a:solidFill>
                          <a:latin typeface="Apple SD Gothic Neo"/>
                        </a:defRPr>
                      </a:pPr>
                      <a:r>
                        <a:t>무료 플랜 있음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430"/>
                          </a:solidFill>
                          <a:latin typeface="Apple SD Gothic Neo"/>
                        </a:defRPr>
                      </a:pPr>
                      <a:r>
                        <a:t>⭐⭐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31520" y="3429000"/>
            <a:ext cx="10789920" cy="2651760"/>
          </a:xfrm>
          <a:prstGeom prst="roundRect">
            <a:avLst>
              <a:gd name="adj" fmla="val 4000"/>
            </a:avLst>
          </a:prstGeom>
          <a:solidFill>
            <a:srgbClr val="E8F0FF"/>
          </a:solidFill>
          <a:ln w="12700">
            <a:solidFill>
              <a:srgbClr val="D2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557016"/>
            <a:ext cx="10387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40A0"/>
                </a:solidFill>
                <a:latin typeface="Apple SD Gothic Neo"/>
              </a:defRPr>
            </a:pPr>
            <a:r>
              <a:t>AI 코딩 도구가 할 수 있는 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06908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02430"/>
                </a:solidFill>
                <a:latin typeface="Apple SD Gothic Neo"/>
              </a:defRPr>
            </a:pPr>
            <a:r>
              <a:t>• 코드 자동완성 — 다음 줄 예측</a:t>
            </a:r>
          </a:p>
          <a:p>
            <a:pPr>
              <a:spcAft>
                <a:spcPts val="600"/>
              </a:spcAft>
              <a:defRPr sz="1500">
                <a:solidFill>
                  <a:srgbClr val="202430"/>
                </a:solidFill>
                <a:latin typeface="Apple SD Gothic Neo"/>
              </a:defRPr>
            </a:pPr>
            <a:r>
              <a:t>• 함수 설명 → 코드 생성</a:t>
            </a:r>
          </a:p>
          <a:p>
            <a:pPr>
              <a:spcAft>
                <a:spcPts val="600"/>
              </a:spcAft>
              <a:defRPr sz="1500">
                <a:solidFill>
                  <a:srgbClr val="202430"/>
                </a:solidFill>
                <a:latin typeface="Apple SD Gothic Neo"/>
              </a:defRPr>
            </a:pPr>
            <a:r>
              <a:t>• 에러 원인 분석 &amp; 수정 제안</a:t>
            </a:r>
          </a:p>
          <a:p>
            <a:pPr>
              <a:spcAft>
                <a:spcPts val="600"/>
              </a:spcAft>
              <a:defRPr sz="1500">
                <a:solidFill>
                  <a:srgbClr val="202430"/>
                </a:solidFill>
                <a:latin typeface="Apple SD Gothic Neo"/>
              </a:defRPr>
            </a:pPr>
            <a:r>
              <a:t>• 코드 설명 &amp; 리팩토링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406908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64708C"/>
                </a:solidFill>
                <a:latin typeface="Apple SD Gothic Neo"/>
              </a:defRPr>
            </a:pPr>
            <a:r>
              <a:t>⚠️ 100% 정확하지 않음</a:t>
            </a:r>
          </a:p>
          <a:p>
            <a:pPr>
              <a:spcAft>
                <a:spcPts val="600"/>
              </a:spcAft>
              <a:defRPr sz="1500">
                <a:solidFill>
                  <a:srgbClr val="64708C"/>
                </a:solidFill>
                <a:latin typeface="Apple SD Gothic Neo"/>
              </a:defRPr>
            </a:pPr>
            <a:r>
              <a:t>⚠️ 복붙이 아니라 이해가 먼저</a:t>
            </a:r>
          </a:p>
          <a:p>
            <a:pPr>
              <a:spcAft>
                <a:spcPts val="600"/>
              </a:spcAft>
              <a:defRPr sz="1500">
                <a:solidFill>
                  <a:srgbClr val="64708C"/>
                </a:solidFill>
                <a:latin typeface="Apple SD Gothic Neo"/>
              </a:defRPr>
            </a:pPr>
            <a:r>
              <a:t>⚠️ AI가 쓴 코드도 검증 필요</a:t>
            </a:r>
          </a:p>
          <a:p>
            <a:pPr>
              <a:spcAft>
                <a:spcPts val="600"/>
              </a:spcAft>
              <a:defRPr sz="1500">
                <a:solidFill>
                  <a:srgbClr val="64708C"/>
                </a:solidFill>
                <a:latin typeface="Apple SD Gothic Neo"/>
              </a:defRPr>
            </a:pPr>
            <a:r>
              <a:t>💡 도구일 뿐, 생각을 대신하지 않음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1E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512064"/>
            <a:ext cx="530352" cy="365760"/>
          </a:xfrm>
          <a:prstGeom prst="roundRect">
            <a:avLst>
              <a:gd name="adj" fmla="val 8000"/>
            </a:avLst>
          </a:prstGeom>
          <a:solidFill>
            <a:srgbClr val="1E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ple SD Gothic Neo"/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457200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21E48"/>
                </a:solidFill>
                <a:latin typeface="Apple SD Gothic Neo"/>
              </a:defRPr>
            </a:pPr>
            <a:r>
              <a:t>AI에게 잘 물어보는 법</a:t>
            </a:r>
          </a:p>
        </p:txBody>
      </p:sp>
      <p:sp>
        <p:nvSpPr>
          <p:cNvPr id="5" name="Rectangle 4"/>
          <p:cNvSpPr/>
          <p:nvPr/>
        </p:nvSpPr>
        <p:spPr>
          <a:xfrm>
            <a:off x="1234440" y="950976"/>
            <a:ext cx="10058400" cy="22860"/>
          </a:xfrm>
          <a:prstGeom prst="rect">
            <a:avLst/>
          </a:prstGeom>
          <a:solidFill>
            <a:srgbClr val="1E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61872" y="1024128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08C"/>
                </a:solidFill>
                <a:latin typeface="Apple SD Gothic Neo"/>
              </a:defRPr>
            </a:pPr>
            <a:r>
              <a:t>프롬프트가 좋으면 결과도 좋다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7315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4708C"/>
                </a:solidFill>
                <a:latin typeface="Apple SD Gothic Neo"/>
              </a:defRPr>
            </a:pPr>
            <a:r>
              <a:t>2026. 04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08C"/>
                </a:solidFill>
                <a:latin typeface="Apple SD Gothic Neo"/>
              </a:defRPr>
            </a:pPr>
            <a:r>
              <a:t>최재영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4652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08C"/>
                </a:solidFill>
                <a:latin typeface="Apple SD Gothic Neo"/>
              </a:defRPr>
            </a:pPr>
            <a:r>
              <a:t>대산고 AI·SW 탐구 프로그램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508760"/>
            <a:ext cx="5212080" cy="2743200"/>
          </a:xfrm>
          <a:prstGeom prst="roundRect">
            <a:avLst>
              <a:gd name="adj" fmla="val 4000"/>
            </a:avLst>
          </a:prstGeom>
          <a:solidFill>
            <a:srgbClr val="FFEBEB"/>
          </a:solidFill>
          <a:ln w="12700">
            <a:solidFill>
              <a:srgbClr val="D2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636776"/>
            <a:ext cx="4809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83C3C"/>
                </a:solidFill>
                <a:latin typeface="Apple SD Gothic Neo"/>
              </a:defRPr>
            </a:pPr>
            <a:r>
              <a:t>❌ 이렇게 하면 안 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103120"/>
            <a:ext cx="466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02430"/>
                </a:solidFill>
                <a:latin typeface="Apple SD Gothic Neo"/>
              </a:defRPr>
            </a:pPr>
            <a:r>
              <a:t>• "코드 짜줘"</a:t>
            </a:r>
          </a:p>
          <a:p>
            <a:pPr>
              <a:spcAft>
                <a:spcPts val="800"/>
              </a:spcAft>
              <a:defRPr sz="1500">
                <a:solidFill>
                  <a:srgbClr val="202430"/>
                </a:solidFill>
                <a:latin typeface="Apple SD Gothic Neo"/>
              </a:defRPr>
            </a:pPr>
            <a:r>
              <a:t>• "에러 고쳐줘"</a:t>
            </a:r>
          </a:p>
          <a:p>
            <a:pPr>
              <a:spcAft>
                <a:spcPts val="800"/>
              </a:spcAft>
              <a:defRPr sz="1500">
                <a:solidFill>
                  <a:srgbClr val="202430"/>
                </a:solidFill>
                <a:latin typeface="Apple SD Gothic Neo"/>
              </a:defRPr>
            </a:pPr>
            <a:r>
              <a:t>• "이거 왜 안 돼?"</a:t>
            </a:r>
          </a:p>
          <a:p>
            <a:pPr>
              <a:spcAft>
                <a:spcPts val="800"/>
              </a:spcAft>
              <a:defRPr sz="1500">
                <a:solidFill>
                  <a:srgbClr val="202430"/>
                </a:solidFill>
                <a:latin typeface="Apple SD Gothic Neo"/>
              </a:defRPr>
            </a:pPr>
            <a:r>
              <a:t>• → 맥락 없이 던지면 엉뚱한 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508760"/>
            <a:ext cx="5212080" cy="2743200"/>
          </a:xfrm>
          <a:prstGeom prst="roundRect">
            <a:avLst>
              <a:gd name="adj" fmla="val 4000"/>
            </a:avLst>
          </a:prstGeom>
          <a:solidFill>
            <a:srgbClr val="E6F8EE"/>
          </a:solidFill>
          <a:ln w="12700">
            <a:solidFill>
              <a:srgbClr val="D2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7" y="1636776"/>
            <a:ext cx="4809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8B5E"/>
                </a:solidFill>
                <a:latin typeface="Apple SD Gothic Neo"/>
              </a:defRPr>
            </a:pPr>
            <a:r>
              <a:t>✅ 이렇게 하면 좋음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103120"/>
            <a:ext cx="466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02430"/>
                </a:solidFill>
                <a:latin typeface="Apple SD Gothic Neo"/>
              </a:defRPr>
            </a:pPr>
            <a:r>
              <a:t>• "Python으로 1~100 소수 구하는 함수"</a:t>
            </a:r>
          </a:p>
          <a:p>
            <a:pPr>
              <a:spcAft>
                <a:spcPts val="800"/>
              </a:spcAft>
              <a:defRPr sz="1500">
                <a:solidFill>
                  <a:srgbClr val="202430"/>
                </a:solidFill>
                <a:latin typeface="Apple SD Gothic Neo"/>
              </a:defRPr>
            </a:pPr>
            <a:r>
              <a:t>• "이 코드에서 TypeError 원인 설명해줘"</a:t>
            </a:r>
          </a:p>
          <a:p>
            <a:pPr>
              <a:spcAft>
                <a:spcPts val="800"/>
              </a:spcAft>
              <a:defRPr sz="1500">
                <a:solidFill>
                  <a:srgbClr val="202430"/>
                </a:solidFill>
                <a:latin typeface="Apple SD Gothic Neo"/>
              </a:defRPr>
            </a:pPr>
            <a:r>
              <a:t>• "CNN 모델에 Dropout 추가하는 방법"</a:t>
            </a:r>
          </a:p>
          <a:p>
            <a:pPr>
              <a:spcAft>
                <a:spcPts val="800"/>
              </a:spcAft>
              <a:defRPr sz="1500">
                <a:solidFill>
                  <a:srgbClr val="202430"/>
                </a:solidFill>
                <a:latin typeface="Apple SD Gothic Neo"/>
              </a:defRPr>
            </a:pPr>
            <a:r>
              <a:t>• → 구체적 맥락 + 원하는 결과를 명시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526280"/>
            <a:ext cx="10789920" cy="1463040"/>
          </a:xfrm>
          <a:prstGeom prst="roundRect">
            <a:avLst>
              <a:gd name="adj" fmla="val 4000"/>
            </a:avLst>
          </a:prstGeom>
          <a:solidFill>
            <a:srgbClr val="E8F0FF"/>
          </a:solidFill>
          <a:ln w="12700">
            <a:solidFill>
              <a:srgbClr val="D2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4654296"/>
            <a:ext cx="10387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40A0"/>
                </a:solidFill>
                <a:latin typeface="Apple SD Gothic Neo"/>
              </a:defRPr>
            </a:pPr>
            <a:r>
              <a:t>💡 프롬프트 작성 공식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120640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21E48"/>
                </a:solidFill>
                <a:latin typeface="Apple SD Gothic Neo"/>
              </a:defRPr>
            </a:pPr>
            <a:r>
              <a:t>[언어/도구]  +  [구체적 작업]  +  [조건/맥락]  =  좋은 프롬프트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486400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08C"/>
                </a:solidFill>
                <a:latin typeface="Apple SD Gothic Neo"/>
              </a:defRPr>
            </a:pPr>
            <a:r>
              <a:t>예: "Python으로 MNIST 데이터셋을 불러와서 CNN 모델 학습하는 코드 작성해줘. Epoch 10, batch 32"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1E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512064"/>
            <a:ext cx="530352" cy="365760"/>
          </a:xfrm>
          <a:prstGeom prst="roundRect">
            <a:avLst>
              <a:gd name="adj" fmla="val 8000"/>
            </a:avLst>
          </a:prstGeom>
          <a:solidFill>
            <a:srgbClr val="1E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ple SD Gothic Neo"/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457200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21E48"/>
                </a:solidFill>
                <a:latin typeface="Apple SD Gothic Neo"/>
              </a:defRPr>
            </a:pPr>
            <a:r>
              <a:t>실습: AI와 함께 코딩해보기</a:t>
            </a:r>
          </a:p>
        </p:txBody>
      </p:sp>
      <p:sp>
        <p:nvSpPr>
          <p:cNvPr id="5" name="Rectangle 4"/>
          <p:cNvSpPr/>
          <p:nvPr/>
        </p:nvSpPr>
        <p:spPr>
          <a:xfrm>
            <a:off x="1234440" y="950976"/>
            <a:ext cx="10058400" cy="22860"/>
          </a:xfrm>
          <a:prstGeom prst="rect">
            <a:avLst/>
          </a:prstGeom>
          <a:solidFill>
            <a:srgbClr val="1E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61872" y="1024128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08C"/>
                </a:solidFill>
                <a:latin typeface="Apple SD Gothic Neo"/>
              </a:defRPr>
            </a:pPr>
            <a:r>
              <a:t>직접 해봐야 감이 잡힙니다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7315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4708C"/>
                </a:solidFill>
                <a:latin typeface="Apple SD Gothic Neo"/>
              </a:defRPr>
            </a:pPr>
            <a:r>
              <a:t>2026. 04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08C"/>
                </a:solidFill>
                <a:latin typeface="Apple SD Gothic Neo"/>
              </a:defRPr>
            </a:pPr>
            <a:r>
              <a:t>최재영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4652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08C"/>
                </a:solidFill>
                <a:latin typeface="Apple SD Gothic Neo"/>
              </a:defRPr>
            </a:pPr>
            <a:r>
              <a:t>대산고 AI·SW 탐구 프로그램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508760"/>
            <a:ext cx="10789920" cy="1051560"/>
          </a:xfrm>
          <a:prstGeom prst="roundRect">
            <a:avLst>
              <a:gd name="adj" fmla="val 4000"/>
            </a:avLst>
          </a:prstGeom>
          <a:solidFill>
            <a:srgbClr val="E8F0FF"/>
          </a:solidFill>
          <a:ln w="12700">
            <a:solidFill>
              <a:srgbClr val="D2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0120" y="1673351"/>
            <a:ext cx="822960" cy="384048"/>
          </a:xfrm>
          <a:prstGeom prst="roundRect">
            <a:avLst>
              <a:gd name="adj" fmla="val 10000"/>
            </a:avLst>
          </a:prstGeom>
          <a:solidFill>
            <a:srgbClr val="1E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673351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ple SD Gothic Neo"/>
              </a:defRPr>
            </a:pPr>
            <a:r>
              <a:t>실습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16184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21E48"/>
                </a:solidFill>
                <a:latin typeface="Apple SD Gothic Neo"/>
              </a:defRPr>
            </a:pPr>
            <a:r>
              <a:t>Hello World 자동완성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1984248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08C"/>
                </a:solidFill>
                <a:latin typeface="Apple SD Gothic Neo"/>
              </a:defRPr>
            </a:pPr>
            <a:r>
              <a:t>VSCode에서 print까지 입력 → AI가 제안하는 코드 확인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743200"/>
            <a:ext cx="10789920" cy="1051560"/>
          </a:xfrm>
          <a:prstGeom prst="roundRect">
            <a:avLst>
              <a:gd name="adj" fmla="val 4000"/>
            </a:avLst>
          </a:prstGeom>
          <a:solidFill>
            <a:srgbClr val="E6F8EE"/>
          </a:solidFill>
          <a:ln w="12700">
            <a:solidFill>
              <a:srgbClr val="D2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0120" y="2907792"/>
            <a:ext cx="822960" cy="384048"/>
          </a:xfrm>
          <a:prstGeom prst="roundRect">
            <a:avLst>
              <a:gd name="adj" fmla="val 10000"/>
            </a:avLst>
          </a:prstGeom>
          <a:solidFill>
            <a:srgbClr val="1E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2907792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ple SD Gothic Neo"/>
              </a:defRPr>
            </a:pPr>
            <a:r>
              <a:t>실습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28529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21E48"/>
                </a:solidFill>
                <a:latin typeface="Apple SD Gothic Neo"/>
              </a:defRPr>
            </a:pPr>
            <a:r>
              <a:t>함수 만들기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218688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08C"/>
                </a:solidFill>
                <a:latin typeface="Apple SD Gothic Neo"/>
              </a:defRPr>
            </a:pPr>
            <a:r>
              <a:t>"두 수를 입력받아 큰 수를 반환하는 함수" 주석 작성 → AI 자동 생성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977639"/>
            <a:ext cx="10789920" cy="1051560"/>
          </a:xfrm>
          <a:prstGeom prst="roundRect">
            <a:avLst>
              <a:gd name="adj" fmla="val 4000"/>
            </a:avLst>
          </a:prstGeom>
          <a:solidFill>
            <a:srgbClr val="FFF4E6"/>
          </a:solidFill>
          <a:ln w="12700">
            <a:solidFill>
              <a:srgbClr val="D2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60120" y="4142231"/>
            <a:ext cx="822960" cy="384048"/>
          </a:xfrm>
          <a:prstGeom prst="roundRect">
            <a:avLst>
              <a:gd name="adj" fmla="val 10000"/>
            </a:avLst>
          </a:prstGeom>
          <a:solidFill>
            <a:srgbClr val="1E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142231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ple SD Gothic Neo"/>
              </a:defRPr>
            </a:pPr>
            <a:r>
              <a:t>실습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40873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21E48"/>
                </a:solidFill>
                <a:latin typeface="Apple SD Gothic Neo"/>
              </a:defRPr>
            </a:pPr>
            <a:r>
              <a:t>에러 수정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65960" y="4453127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08C"/>
                </a:solidFill>
                <a:latin typeface="Apple SD Gothic Neo"/>
              </a:defRPr>
            </a:pPr>
            <a:r>
              <a:t>일부러 에러가 있는 코드 붙여넣기 → AI에게 원인 물어보기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212080"/>
            <a:ext cx="10789920" cy="1051560"/>
          </a:xfrm>
          <a:prstGeom prst="roundRect">
            <a:avLst>
              <a:gd name="adj" fmla="val 4000"/>
            </a:avLst>
          </a:prstGeom>
          <a:solidFill>
            <a:srgbClr val="F2EBFF"/>
          </a:solidFill>
          <a:ln w="12700">
            <a:solidFill>
              <a:srgbClr val="D2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60120" y="5376672"/>
            <a:ext cx="822960" cy="384048"/>
          </a:xfrm>
          <a:prstGeom prst="roundRect">
            <a:avLst>
              <a:gd name="adj" fmla="val 10000"/>
            </a:avLst>
          </a:prstGeom>
          <a:solidFill>
            <a:srgbClr val="1E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5376672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ple SD Gothic Neo"/>
              </a:defRPr>
            </a:pPr>
            <a:r>
              <a:t>실습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65960" y="53218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21E48"/>
                </a:solidFill>
                <a:latin typeface="Apple SD Gothic Neo"/>
              </a:defRPr>
            </a:pPr>
            <a:r>
              <a:t>내 주제 관련 코드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5687568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08C"/>
                </a:solidFill>
                <a:latin typeface="Apple SD Gothic Neo"/>
              </a:defRPr>
            </a:pPr>
            <a:r>
              <a:t>각자 탐구 주제에 맞는 간단한 코드 요청해보기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E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E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01168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508CFF"/>
                </a:solidFill>
                <a:latin typeface="Apple SD Gothic Neo"/>
              </a:defRPr>
            </a:pPr>
            <a:r>
              <a:t>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74320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Apple SD Gothic Neo"/>
              </a:defRPr>
            </a:pPr>
            <a:r>
              <a:t>PART 2</a:t>
            </a:r>
            <a:br/>
            <a:r>
              <a:t>탐구 주제 선정 &amp; 보고서 작성법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7315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C8D2F0"/>
                </a:solidFill>
                <a:latin typeface="Apple SD Gothic Neo"/>
              </a:defRPr>
            </a:pPr>
            <a:r>
              <a:t>2026. 04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C3E6"/>
                </a:solidFill>
                <a:latin typeface="Apple SD Gothic Neo"/>
              </a:defRPr>
            </a:pPr>
            <a:r>
              <a:t>최재영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44652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4C3E6"/>
                </a:solidFill>
                <a:latin typeface="Apple SD Gothic Neo"/>
              </a:defRPr>
            </a:pPr>
            <a:r>
              <a:t>대산고 AI·SW 탐구 프로그램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1E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512064"/>
            <a:ext cx="530352" cy="365760"/>
          </a:xfrm>
          <a:prstGeom prst="roundRect">
            <a:avLst>
              <a:gd name="adj" fmla="val 8000"/>
            </a:avLst>
          </a:prstGeom>
          <a:solidFill>
            <a:srgbClr val="1E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ple SD Gothic Neo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457200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21E48"/>
                </a:solidFill>
                <a:latin typeface="Apple SD Gothic Neo"/>
              </a:defRPr>
            </a:pPr>
            <a:r>
              <a:t>좋은 탐구 주제란?</a:t>
            </a:r>
          </a:p>
        </p:txBody>
      </p:sp>
      <p:sp>
        <p:nvSpPr>
          <p:cNvPr id="5" name="Rectangle 4"/>
          <p:cNvSpPr/>
          <p:nvPr/>
        </p:nvSpPr>
        <p:spPr>
          <a:xfrm>
            <a:off x="1234440" y="950976"/>
            <a:ext cx="10058400" cy="22860"/>
          </a:xfrm>
          <a:prstGeom prst="rect">
            <a:avLst/>
          </a:prstGeom>
          <a:solidFill>
            <a:srgbClr val="1E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61872" y="1024128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08C"/>
                </a:solidFill>
                <a:latin typeface="Apple SD Gothic Neo"/>
              </a:defRPr>
            </a:pPr>
            <a:r>
              <a:t>멋진 주제가 아니라, 끝까지 할 수 있는 주제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7315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4708C"/>
                </a:solidFill>
                <a:latin typeface="Apple SD Gothic Neo"/>
              </a:defRPr>
            </a:pPr>
            <a:r>
              <a:t>2026. 04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08C"/>
                </a:solidFill>
                <a:latin typeface="Apple SD Gothic Neo"/>
              </a:defRPr>
            </a:pPr>
            <a:r>
              <a:t>최재영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4652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08C"/>
                </a:solidFill>
                <a:latin typeface="Apple SD Gothic Neo"/>
              </a:defRPr>
            </a:pPr>
            <a:r>
              <a:t>대산고 AI·SW 탐구 프로그램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508760"/>
            <a:ext cx="10789920" cy="1463040"/>
          </a:xfrm>
          <a:prstGeom prst="roundRect">
            <a:avLst>
              <a:gd name="adj" fmla="val 4000"/>
            </a:avLst>
          </a:prstGeom>
          <a:solidFill>
            <a:srgbClr val="FFF4E6"/>
          </a:solidFill>
          <a:ln w="12700">
            <a:solidFill>
              <a:srgbClr val="D2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636776"/>
            <a:ext cx="10387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C781E"/>
                </a:solidFill>
                <a:latin typeface="Apple SD Gothic Neo"/>
              </a:defRPr>
            </a:pPr>
            <a:r>
              <a:t>🔑 핵심 메시지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5740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02430"/>
                </a:solidFill>
                <a:latin typeface="Apple SD Gothic Neo"/>
              </a:defRPr>
            </a:pPr>
            <a:r>
              <a:t>탐구는 "소개"가 아닙니다.</a:t>
            </a:r>
            <a:br/>
            <a:r>
              <a:t>질문 → 조사 → 비교/분석 → 정리 과정이 있어야 탐구입니다.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46120"/>
            <a:ext cx="10789920" cy="2926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2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3374136"/>
            <a:ext cx="10387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40A0"/>
                </a:solidFill>
                <a:latin typeface="Apple SD Gothic Neo"/>
              </a:defRPr>
            </a:pPr>
            <a:r>
              <a:t>✅ 좋은 주제 체크리스트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840480"/>
            <a:ext cx="10241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02430"/>
                </a:solidFill>
                <a:latin typeface="Apple SD Gothic Neo"/>
              </a:defRPr>
            </a:pPr>
            <a:r>
              <a:t>☑ 한 문장으로 질문이 되는가?</a:t>
            </a:r>
          </a:p>
          <a:p>
            <a:pPr>
              <a:spcAft>
                <a:spcPts val="700"/>
              </a:spcAft>
              <a:defRPr sz="1600">
                <a:solidFill>
                  <a:srgbClr val="202430"/>
                </a:solidFill>
                <a:latin typeface="Apple SD Gothic Neo"/>
              </a:defRPr>
            </a:pPr>
            <a:r>
              <a:t>☑ 내가 궁금한 점이 분명한가?</a:t>
            </a:r>
          </a:p>
          <a:p>
            <a:pPr>
              <a:spcAft>
                <a:spcPts val="700"/>
              </a:spcAft>
              <a:defRPr sz="1600">
                <a:solidFill>
                  <a:srgbClr val="202430"/>
                </a:solidFill>
                <a:latin typeface="Apple SD Gothic Neo"/>
              </a:defRPr>
            </a:pPr>
            <a:r>
              <a:t>☑ 직접 조사/실험/비교가 가능한가?</a:t>
            </a:r>
          </a:p>
          <a:p>
            <a:pPr>
              <a:spcAft>
                <a:spcPts val="700"/>
              </a:spcAft>
              <a:defRPr sz="1600">
                <a:solidFill>
                  <a:srgbClr val="202430"/>
                </a:solidFill>
                <a:latin typeface="Apple SD Gothic Neo"/>
              </a:defRPr>
            </a:pPr>
            <a:r>
              <a:t>☑ 자료를 찾을 수 있는가?</a:t>
            </a:r>
          </a:p>
          <a:p>
            <a:pPr>
              <a:spcAft>
                <a:spcPts val="700"/>
              </a:spcAft>
              <a:defRPr sz="1600">
                <a:solidFill>
                  <a:srgbClr val="202430"/>
                </a:solidFill>
                <a:latin typeface="Apple SD Gothic Neo"/>
              </a:defRPr>
            </a:pPr>
            <a:r>
              <a:t>☑ 정해진 기간 안에 끝낼 수 있는가?</a:t>
            </a:r>
          </a:p>
          <a:p>
            <a:pPr>
              <a:spcAft>
                <a:spcPts val="700"/>
              </a:spcAft>
              <a:defRPr sz="1600">
                <a:solidFill>
                  <a:srgbClr val="202430"/>
                </a:solidFill>
                <a:latin typeface="Apple SD Gothic Neo"/>
              </a:defRPr>
            </a:pPr>
            <a:r>
              <a:t>☑ 결과를 표/그래프/비교문장으로 정리할 수 있는가?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1E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512064"/>
            <a:ext cx="530352" cy="365760"/>
          </a:xfrm>
          <a:prstGeom prst="roundRect">
            <a:avLst>
              <a:gd name="adj" fmla="val 8000"/>
            </a:avLst>
          </a:prstGeom>
          <a:solidFill>
            <a:srgbClr val="1E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ple SD Gothic Neo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457200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21E48"/>
                </a:solidFill>
                <a:latin typeface="Apple SD Gothic Neo"/>
              </a:defRPr>
            </a:pPr>
            <a:r>
              <a:t>넓은 주제를 질문으로 바꾸기</a:t>
            </a:r>
          </a:p>
        </p:txBody>
      </p:sp>
      <p:sp>
        <p:nvSpPr>
          <p:cNvPr id="5" name="Rectangle 4"/>
          <p:cNvSpPr/>
          <p:nvPr/>
        </p:nvSpPr>
        <p:spPr>
          <a:xfrm>
            <a:off x="1234440" y="950976"/>
            <a:ext cx="10058400" cy="22860"/>
          </a:xfrm>
          <a:prstGeom prst="rect">
            <a:avLst/>
          </a:prstGeom>
          <a:solidFill>
            <a:srgbClr val="1E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61872" y="1024128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08C"/>
                </a:solidFill>
                <a:latin typeface="Apple SD Gothic Neo"/>
              </a:defRPr>
            </a:pPr>
            <a:r>
              <a:t>3단계: 넓은 주제 → 구체적 주제 → 탐구 질문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7315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4708C"/>
                </a:solidFill>
                <a:latin typeface="Apple SD Gothic Neo"/>
              </a:defRPr>
            </a:pPr>
            <a:r>
              <a:t>2026. 04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08C"/>
                </a:solidFill>
                <a:latin typeface="Apple SD Gothic Neo"/>
              </a:defRPr>
            </a:pPr>
            <a:r>
              <a:t>최재영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4652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08C"/>
                </a:solidFill>
                <a:latin typeface="Apple SD Gothic Neo"/>
              </a:defRPr>
            </a:pPr>
            <a:r>
              <a:t>대산고 AI·SW 탐구 프로그램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508760"/>
            <a:ext cx="2194560" cy="1005840"/>
          </a:xfrm>
          <a:prstGeom prst="roundRect">
            <a:avLst>
              <a:gd name="adj" fmla="val 4000"/>
            </a:avLst>
          </a:prstGeom>
          <a:solidFill>
            <a:srgbClr val="FFEBEB"/>
          </a:solidFill>
          <a:ln w="12700">
            <a:solidFill>
              <a:srgbClr val="D2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7830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83C3C"/>
                </a:solidFill>
                <a:latin typeface="Apple SD Gothic Neo"/>
              </a:defRPr>
            </a:pPr>
            <a:r>
              <a:t>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783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4708C"/>
                </a:solidFill>
                <a:latin typeface="Apple SD Gothic Neo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1508760"/>
            <a:ext cx="3291840" cy="1005840"/>
          </a:xfrm>
          <a:prstGeom prst="roundRect">
            <a:avLst>
              <a:gd name="adj" fmla="val 4000"/>
            </a:avLst>
          </a:prstGeom>
          <a:solidFill>
            <a:srgbClr val="FFF4E6"/>
          </a:solidFill>
          <a:ln w="12700">
            <a:solidFill>
              <a:srgbClr val="D2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1737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C781E"/>
                </a:solidFill>
                <a:latin typeface="Apple SD Gothic Neo"/>
              </a:defRPr>
            </a:pPr>
            <a:r>
              <a:t>CNN을 활용한 손글씨 인식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1783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4708C"/>
                </a:solidFill>
                <a:latin typeface="Apple SD Gothic Neo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78040" y="1508760"/>
            <a:ext cx="4389120" cy="1005840"/>
          </a:xfrm>
          <a:prstGeom prst="roundRect">
            <a:avLst>
              <a:gd name="adj" fmla="val 4000"/>
            </a:avLst>
          </a:prstGeom>
          <a:solidFill>
            <a:srgbClr val="E6F8EE"/>
          </a:solidFill>
          <a:ln w="12700">
            <a:solidFill>
              <a:srgbClr val="D2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60920" y="1645919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28B5E"/>
                </a:solidFill>
                <a:latin typeface="Apple SD Gothic Neo"/>
              </a:defRPr>
            </a:pPr>
            <a:r>
              <a:t>CNN 구조 변화에 따라 인식</a:t>
            </a:r>
            <a:br/>
            <a:r>
              <a:t>정확도는 어떻게 달라질까?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743200"/>
            <a:ext cx="2194560" cy="1005840"/>
          </a:xfrm>
          <a:prstGeom prst="roundRect">
            <a:avLst>
              <a:gd name="adj" fmla="val 4000"/>
            </a:avLst>
          </a:prstGeom>
          <a:solidFill>
            <a:srgbClr val="FFEBEB"/>
          </a:solidFill>
          <a:ln w="12700">
            <a:solidFill>
              <a:srgbClr val="D2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0175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83C3C"/>
                </a:solidFill>
                <a:latin typeface="Apple SD Gothic Neo"/>
              </a:defRPr>
            </a:pPr>
            <a:r>
              <a:t>보안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0175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4708C"/>
                </a:solidFill>
                <a:latin typeface="Apple SD Gothic Neo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83280" y="2743200"/>
            <a:ext cx="3291840" cy="1005840"/>
          </a:xfrm>
          <a:prstGeom prst="roundRect">
            <a:avLst>
              <a:gd name="adj" fmla="val 4000"/>
            </a:avLst>
          </a:prstGeom>
          <a:solidFill>
            <a:srgbClr val="FFF4E6"/>
          </a:solidFill>
          <a:ln w="12700">
            <a:solidFill>
              <a:srgbClr val="D2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66160" y="29718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C781E"/>
                </a:solidFill>
                <a:latin typeface="Apple SD Gothic Neo"/>
              </a:defRPr>
            </a:pPr>
            <a:r>
              <a:t>중간자 공격과 암호화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30175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4708C"/>
                </a:solidFill>
                <a:latin typeface="Apple SD Gothic Neo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78040" y="2743200"/>
            <a:ext cx="4389120" cy="1005840"/>
          </a:xfrm>
          <a:prstGeom prst="roundRect">
            <a:avLst>
              <a:gd name="adj" fmla="val 4000"/>
            </a:avLst>
          </a:prstGeom>
          <a:solidFill>
            <a:srgbClr val="E6F8EE"/>
          </a:solidFill>
          <a:ln w="12700">
            <a:solidFill>
              <a:srgbClr val="D2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60920" y="2880360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28B5E"/>
                </a:solidFill>
                <a:latin typeface="Apple SD Gothic Neo"/>
              </a:defRPr>
            </a:pPr>
            <a:r>
              <a:t>암호화는 MITM 공격 위험을</a:t>
            </a:r>
            <a:br/>
            <a:r>
              <a:t>어떻게 줄일 수 있을까?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977639"/>
            <a:ext cx="2194560" cy="1005840"/>
          </a:xfrm>
          <a:prstGeom prst="roundRect">
            <a:avLst>
              <a:gd name="adj" fmla="val 4000"/>
            </a:avLst>
          </a:prstGeom>
          <a:solidFill>
            <a:srgbClr val="FFEBEB"/>
          </a:solidFill>
          <a:ln w="12700">
            <a:solidFill>
              <a:srgbClr val="D2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251959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83C3C"/>
                </a:solidFill>
                <a:latin typeface="Apple SD Gothic Neo"/>
              </a:defRPr>
            </a:pPr>
            <a:r>
              <a:t>서버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425195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4708C"/>
                </a:solidFill>
                <a:latin typeface="Apple SD Gothic Neo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83280" y="3977639"/>
            <a:ext cx="3291840" cy="1005840"/>
          </a:xfrm>
          <a:prstGeom prst="roundRect">
            <a:avLst>
              <a:gd name="adj" fmla="val 4000"/>
            </a:avLst>
          </a:prstGeom>
          <a:solidFill>
            <a:srgbClr val="FFF4E6"/>
          </a:solidFill>
          <a:ln w="12700">
            <a:solidFill>
              <a:srgbClr val="D2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4206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C781E"/>
                </a:solidFill>
                <a:latin typeface="Apple SD Gothic Neo"/>
              </a:defRPr>
            </a:pPr>
            <a:r>
              <a:t>로드밸런싱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425195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4708C"/>
                </a:solidFill>
                <a:latin typeface="Apple SD Gothic Neo"/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78040" y="3977639"/>
            <a:ext cx="4389120" cy="1005840"/>
          </a:xfrm>
          <a:prstGeom prst="roundRect">
            <a:avLst>
              <a:gd name="adj" fmla="val 4000"/>
            </a:avLst>
          </a:prstGeom>
          <a:solidFill>
            <a:srgbClr val="E6F8EE"/>
          </a:solidFill>
          <a:ln w="12700">
            <a:solidFill>
              <a:srgbClr val="D2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60920" y="4114800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28B5E"/>
                </a:solidFill>
                <a:latin typeface="Apple SD Gothic Neo"/>
              </a:defRPr>
            </a:pPr>
            <a:r>
              <a:t>로드밸런싱은 서버 과부하를</a:t>
            </a:r>
            <a:br/>
            <a:r>
              <a:t>얼마나 줄일 수 있을까?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5212080"/>
            <a:ext cx="2194560" cy="1005840"/>
          </a:xfrm>
          <a:prstGeom prst="roundRect">
            <a:avLst>
              <a:gd name="adj" fmla="val 4000"/>
            </a:avLst>
          </a:prstGeom>
          <a:solidFill>
            <a:srgbClr val="FFEBEB"/>
          </a:solidFill>
          <a:ln w="12700">
            <a:solidFill>
              <a:srgbClr val="D2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54864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83C3C"/>
                </a:solidFill>
                <a:latin typeface="Apple SD Gothic Neo"/>
              </a:defRPr>
            </a:pPr>
            <a:r>
              <a:t>게임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26080" y="54864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4708C"/>
                </a:solidFill>
                <a:latin typeface="Apple SD Gothic Neo"/>
              </a:defRPr>
            </a:pPr>
            <a: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383280" y="5212080"/>
            <a:ext cx="3291840" cy="1005840"/>
          </a:xfrm>
          <a:prstGeom prst="roundRect">
            <a:avLst>
              <a:gd name="adj" fmla="val 4000"/>
            </a:avLst>
          </a:prstGeom>
          <a:solidFill>
            <a:srgbClr val="FFF4E6"/>
          </a:solidFill>
          <a:ln w="12700">
            <a:solidFill>
              <a:srgbClr val="D2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66160" y="5440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C781E"/>
                </a:solidFill>
                <a:latin typeface="Apple SD Gothic Neo"/>
              </a:defRPr>
            </a:pPr>
            <a:r>
              <a:t>확률형 시스템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20840" y="54864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4708C"/>
                </a:solidFill>
                <a:latin typeface="Apple SD Gothic Neo"/>
              </a:defRPr>
            </a:pPr>
            <a:r>
              <a:t>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178040" y="5212080"/>
            <a:ext cx="4389120" cy="1005840"/>
          </a:xfrm>
          <a:prstGeom prst="roundRect">
            <a:avLst>
              <a:gd name="adj" fmla="val 4000"/>
            </a:avLst>
          </a:prstGeom>
          <a:solidFill>
            <a:srgbClr val="E6F8EE"/>
          </a:solidFill>
          <a:ln w="12700">
            <a:solidFill>
              <a:srgbClr val="D2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60920" y="5349240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28B5E"/>
                </a:solidFill>
                <a:latin typeface="Apple SD Gothic Neo"/>
              </a:defRPr>
            </a:pPr>
            <a:r>
              <a:t>게임의 랜덤 결과는 이론</a:t>
            </a:r>
            <a:br/>
            <a:r>
              <a:t>확률에 수렴하는가?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1E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512064"/>
            <a:ext cx="530352" cy="365760"/>
          </a:xfrm>
          <a:prstGeom prst="roundRect">
            <a:avLst>
              <a:gd name="adj" fmla="val 8000"/>
            </a:avLst>
          </a:prstGeom>
          <a:solidFill>
            <a:srgbClr val="1E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ple SD Gothic Neo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457200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21E48"/>
                </a:solidFill>
                <a:latin typeface="Apple SD Gothic Neo"/>
              </a:defRPr>
            </a:pPr>
            <a:r>
              <a:t>자료는 어떻게 찾는가?</a:t>
            </a:r>
          </a:p>
        </p:txBody>
      </p:sp>
      <p:sp>
        <p:nvSpPr>
          <p:cNvPr id="5" name="Rectangle 4"/>
          <p:cNvSpPr/>
          <p:nvPr/>
        </p:nvSpPr>
        <p:spPr>
          <a:xfrm>
            <a:off x="1234440" y="950976"/>
            <a:ext cx="10058400" cy="22860"/>
          </a:xfrm>
          <a:prstGeom prst="rect">
            <a:avLst/>
          </a:prstGeom>
          <a:solidFill>
            <a:srgbClr val="1E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61872" y="1024128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08C"/>
                </a:solidFill>
                <a:latin typeface="Apple SD Gothic Neo"/>
              </a:defRPr>
            </a:pPr>
            <a:r>
              <a:t>검색어 만드는 법부터 시작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7315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4708C"/>
                </a:solidFill>
                <a:latin typeface="Apple SD Gothic Neo"/>
              </a:defRPr>
            </a:pPr>
            <a:r>
              <a:t>2026. 04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08C"/>
                </a:solidFill>
                <a:latin typeface="Apple SD Gothic Neo"/>
              </a:defRPr>
            </a:pPr>
            <a:r>
              <a:t>최재영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4652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08C"/>
                </a:solidFill>
                <a:latin typeface="Apple SD Gothic Neo"/>
              </a:defRPr>
            </a:pPr>
            <a:r>
              <a:t>대산고 AI·SW 탐구 프로그램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508760"/>
            <a:ext cx="5212080" cy="2377440"/>
          </a:xfrm>
          <a:prstGeom prst="roundRect">
            <a:avLst>
              <a:gd name="adj" fmla="val 4000"/>
            </a:avLst>
          </a:prstGeom>
          <a:solidFill>
            <a:srgbClr val="E8F0FF"/>
          </a:solidFill>
          <a:ln w="12700">
            <a:solidFill>
              <a:srgbClr val="D2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636776"/>
            <a:ext cx="4809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40A0"/>
                </a:solidFill>
                <a:latin typeface="Apple SD Gothic Neo"/>
              </a:defRPr>
            </a:pPr>
            <a:r>
              <a:t>🔍 검색 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10312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02430"/>
                </a:solidFill>
                <a:latin typeface="Apple SD Gothic Neo"/>
              </a:defRPr>
            </a:pPr>
            <a:r>
              <a:t>• 키워드 2~3개 조합하기</a:t>
            </a:r>
          </a:p>
          <a:p>
            <a:pPr>
              <a:spcAft>
                <a:spcPts val="600"/>
              </a:spcAft>
              <a:defRPr sz="1400">
                <a:solidFill>
                  <a:srgbClr val="202430"/>
                </a:solidFill>
                <a:latin typeface="Apple SD Gothic Neo"/>
              </a:defRPr>
            </a:pPr>
            <a:r>
              <a:t>• "정의 / 원리 / 비교 / 사례" 확장</a:t>
            </a:r>
          </a:p>
          <a:p>
            <a:pPr>
              <a:spcAft>
                <a:spcPts val="600"/>
              </a:spcAft>
              <a:defRPr sz="1400">
                <a:solidFill>
                  <a:srgbClr val="202430"/>
                </a:solidFill>
                <a:latin typeface="Apple SD Gothic Neo"/>
              </a:defRPr>
            </a:pPr>
            <a:r>
              <a:t>• 한 자료만 보지 말고 교차 확인</a:t>
            </a:r>
          </a:p>
          <a:p>
            <a:pPr>
              <a:spcAft>
                <a:spcPts val="600"/>
              </a:spcAft>
              <a:defRPr sz="1400">
                <a:solidFill>
                  <a:srgbClr val="202430"/>
                </a:solidFill>
                <a:latin typeface="Apple SD Gothic Neo"/>
              </a:defRPr>
            </a:pPr>
            <a:r>
              <a:t>• 영어 검색도 시도해보기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508760"/>
            <a:ext cx="5212080" cy="2377440"/>
          </a:xfrm>
          <a:prstGeom prst="roundRect">
            <a:avLst>
              <a:gd name="adj" fmla="val 4000"/>
            </a:avLst>
          </a:prstGeom>
          <a:solidFill>
            <a:srgbClr val="E6F8EE"/>
          </a:solidFill>
          <a:ln w="12700">
            <a:solidFill>
              <a:srgbClr val="D2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7" y="1636776"/>
            <a:ext cx="4809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8B5E"/>
                </a:solidFill>
                <a:latin typeface="Apple SD Gothic Neo"/>
              </a:defRPr>
            </a:pPr>
            <a:r>
              <a:t>📝 검색어 예시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10312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02430"/>
                </a:solidFill>
                <a:latin typeface="Apple SD Gothic Neo"/>
              </a:defRPr>
            </a:pPr>
            <a:r>
              <a:t>• "CNN MNIST accuracy comparison"</a:t>
            </a:r>
          </a:p>
          <a:p>
            <a:pPr>
              <a:spcAft>
                <a:spcPts val="600"/>
              </a:spcAft>
              <a:defRPr sz="1400">
                <a:solidFill>
                  <a:srgbClr val="202430"/>
                </a:solidFill>
                <a:latin typeface="Apple SD Gothic Neo"/>
              </a:defRPr>
            </a:pPr>
            <a:r>
              <a:t>• "hybrid retrieval RAG comparison"</a:t>
            </a:r>
          </a:p>
          <a:p>
            <a:pPr>
              <a:spcAft>
                <a:spcPts val="600"/>
              </a:spcAft>
              <a:defRPr sz="1400">
                <a:solidFill>
                  <a:srgbClr val="202430"/>
                </a:solidFill>
                <a:latin typeface="Apple SD Gothic Neo"/>
              </a:defRPr>
            </a:pPr>
            <a:r>
              <a:t>• "MITM attack encryption principle"</a:t>
            </a:r>
          </a:p>
          <a:p>
            <a:pPr>
              <a:spcAft>
                <a:spcPts val="600"/>
              </a:spcAft>
              <a:defRPr sz="1400">
                <a:solidFill>
                  <a:srgbClr val="202430"/>
                </a:solidFill>
                <a:latin typeface="Apple SD Gothic Neo"/>
              </a:defRPr>
            </a:pPr>
            <a:r>
              <a:t>• "load balancing round robin 비교"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160520"/>
            <a:ext cx="5212080" cy="2011680"/>
          </a:xfrm>
          <a:prstGeom prst="roundRect">
            <a:avLst>
              <a:gd name="adj" fmla="val 4000"/>
            </a:avLst>
          </a:prstGeom>
          <a:solidFill>
            <a:srgbClr val="E6F8EE"/>
          </a:solidFill>
          <a:ln w="12700">
            <a:solidFill>
              <a:srgbClr val="D2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4288536"/>
            <a:ext cx="4809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8B5E"/>
                </a:solidFill>
                <a:latin typeface="Apple SD Gothic Neo"/>
              </a:defRPr>
            </a:pPr>
            <a:r>
              <a:t>✅ 신뢰할 만한 자료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70916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02430"/>
                </a:solidFill>
                <a:latin typeface="Apple SD Gothic Neo"/>
              </a:defRPr>
            </a:pPr>
            <a:r>
              <a:t>• 대학/연구기관 자료</a:t>
            </a:r>
          </a:p>
          <a:p>
            <a:pPr>
              <a:spcAft>
                <a:spcPts val="600"/>
              </a:spcAft>
              <a:defRPr sz="1400">
                <a:solidFill>
                  <a:srgbClr val="202430"/>
                </a:solidFill>
                <a:latin typeface="Apple SD Gothic Neo"/>
              </a:defRPr>
            </a:pPr>
            <a:r>
              <a:t>• 공식 문서 · 논문</a:t>
            </a:r>
          </a:p>
          <a:p>
            <a:pPr>
              <a:spcAft>
                <a:spcPts val="600"/>
              </a:spcAft>
              <a:defRPr sz="1400">
                <a:solidFill>
                  <a:srgbClr val="202430"/>
                </a:solidFill>
                <a:latin typeface="Apple SD Gothic Neo"/>
              </a:defRPr>
            </a:pPr>
            <a:r>
              <a:t>• 전문 기관 기술 설명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4160520"/>
            <a:ext cx="5212080" cy="2011680"/>
          </a:xfrm>
          <a:prstGeom prst="roundRect">
            <a:avLst>
              <a:gd name="adj" fmla="val 4000"/>
            </a:avLst>
          </a:prstGeom>
          <a:solidFill>
            <a:srgbClr val="FFEBEB"/>
          </a:solidFill>
          <a:ln w="12700">
            <a:solidFill>
              <a:srgbClr val="D2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4807" y="4288536"/>
            <a:ext cx="4809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83C3C"/>
                </a:solidFill>
                <a:latin typeface="Apple SD Gothic Neo"/>
              </a:defRPr>
            </a:pPr>
            <a:r>
              <a:t>⚠️ 주의할 자료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70916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02430"/>
                </a:solidFill>
                <a:latin typeface="Apple SD Gothic Neo"/>
              </a:defRPr>
            </a:pPr>
            <a:r>
              <a:t>• 출처 불분명한 블로그</a:t>
            </a:r>
          </a:p>
          <a:p>
            <a:pPr>
              <a:spcAft>
                <a:spcPts val="600"/>
              </a:spcAft>
              <a:defRPr sz="1400">
                <a:solidFill>
                  <a:srgbClr val="202430"/>
                </a:solidFill>
                <a:latin typeface="Apple SD Gothic Neo"/>
              </a:defRPr>
            </a:pPr>
            <a:r>
              <a:t>• 광고성 · 근거 없는 글</a:t>
            </a:r>
          </a:p>
          <a:p>
            <a:pPr>
              <a:spcAft>
                <a:spcPts val="600"/>
              </a:spcAft>
              <a:defRPr sz="1400">
                <a:solidFill>
                  <a:srgbClr val="202430"/>
                </a:solidFill>
                <a:latin typeface="Apple SD Gothic Neo"/>
              </a:defRPr>
            </a:pPr>
            <a:r>
              <a:t>• 복붙 느낌의 AI 생성 글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1E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512064"/>
            <a:ext cx="530352" cy="365760"/>
          </a:xfrm>
          <a:prstGeom prst="roundRect">
            <a:avLst>
              <a:gd name="adj" fmla="val 8000"/>
            </a:avLst>
          </a:prstGeom>
          <a:solidFill>
            <a:srgbClr val="1E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ple SD Gothic Neo"/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457200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21E48"/>
                </a:solidFill>
                <a:latin typeface="Apple SD Gothic Neo"/>
              </a:defRPr>
            </a:pPr>
            <a:r>
              <a:t>보고서는 어떻게 쓰는가?</a:t>
            </a:r>
          </a:p>
        </p:txBody>
      </p:sp>
      <p:sp>
        <p:nvSpPr>
          <p:cNvPr id="5" name="Rectangle 4"/>
          <p:cNvSpPr/>
          <p:nvPr/>
        </p:nvSpPr>
        <p:spPr>
          <a:xfrm>
            <a:off x="1234440" y="950976"/>
            <a:ext cx="10058400" cy="22860"/>
          </a:xfrm>
          <a:prstGeom prst="rect">
            <a:avLst/>
          </a:prstGeom>
          <a:solidFill>
            <a:srgbClr val="1E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61872" y="1024128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08C"/>
                </a:solidFill>
                <a:latin typeface="Apple SD Gothic Neo"/>
              </a:defRPr>
            </a:pPr>
            <a:r>
              <a:t>기본 구조를 알면 자료조사도 편해집니다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7315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4708C"/>
                </a:solidFill>
                <a:latin typeface="Apple SD Gothic Neo"/>
              </a:defRPr>
            </a:pPr>
            <a:r>
              <a:t>2026. 04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08C"/>
                </a:solidFill>
                <a:latin typeface="Apple SD Gothic Neo"/>
              </a:defRPr>
            </a:pPr>
            <a:r>
              <a:t>최재영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4652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08C"/>
                </a:solidFill>
                <a:latin typeface="Apple SD Gothic Neo"/>
              </a:defRPr>
            </a:pPr>
            <a:r>
              <a:t>대산고 AI·SW 탐구 프로그램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508760"/>
            <a:ext cx="5303520" cy="1005840"/>
          </a:xfrm>
          <a:prstGeom prst="roundRect">
            <a:avLst>
              <a:gd name="adj" fmla="val 4000"/>
            </a:avLst>
          </a:prstGeom>
          <a:solidFill>
            <a:srgbClr val="E8F0FF"/>
          </a:solidFill>
          <a:ln w="12700">
            <a:solidFill>
              <a:srgbClr val="D2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6112" y="1737360"/>
            <a:ext cx="411480" cy="411480"/>
          </a:xfrm>
          <a:prstGeom prst="roundRect">
            <a:avLst>
              <a:gd name="adj" fmla="val 12000"/>
            </a:avLst>
          </a:prstGeom>
          <a:solidFill>
            <a:srgbClr val="1E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17373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ple SD Gothic Neo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164591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21E48"/>
                </a:solidFill>
                <a:latin typeface="Apple SD Gothic Neo"/>
              </a:defRPr>
            </a:pPr>
            <a:r>
              <a:t>탐구 주제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0116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08C"/>
                </a:solidFill>
                <a:latin typeface="Apple SD Gothic Neo"/>
              </a:defRPr>
            </a:pPr>
            <a:r>
              <a:t>한 줄로 명확하게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508760"/>
            <a:ext cx="5303520" cy="1005840"/>
          </a:xfrm>
          <a:prstGeom prst="roundRect">
            <a:avLst>
              <a:gd name="adj" fmla="val 4000"/>
            </a:avLst>
          </a:prstGeom>
          <a:solidFill>
            <a:srgbClr val="E8F0FF"/>
          </a:solidFill>
          <a:ln w="12700">
            <a:solidFill>
              <a:srgbClr val="D2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65392" y="1737360"/>
            <a:ext cx="411480" cy="411480"/>
          </a:xfrm>
          <a:prstGeom prst="roundRect">
            <a:avLst>
              <a:gd name="adj" fmla="val 12000"/>
            </a:avLst>
          </a:prstGeom>
          <a:solidFill>
            <a:srgbClr val="1E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17373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ple SD Gothic Neo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0608" y="164591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21E48"/>
                </a:solidFill>
                <a:latin typeface="Apple SD Gothic Neo"/>
              </a:defRPr>
            </a:pPr>
            <a:r>
              <a:t>탐구 동기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50608" y="20116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08C"/>
                </a:solidFill>
                <a:latin typeface="Apple SD Gothic Neo"/>
              </a:defRPr>
            </a:pPr>
            <a:r>
              <a:t>왜 이 주제를 선택했는지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2743200"/>
            <a:ext cx="5303520" cy="1005840"/>
          </a:xfrm>
          <a:prstGeom prst="roundRect">
            <a:avLst>
              <a:gd name="adj" fmla="val 4000"/>
            </a:avLst>
          </a:prstGeom>
          <a:solidFill>
            <a:srgbClr val="E6F8EE"/>
          </a:solidFill>
          <a:ln w="12700">
            <a:solidFill>
              <a:srgbClr val="D2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96112" y="2971800"/>
            <a:ext cx="411480" cy="411480"/>
          </a:xfrm>
          <a:prstGeom prst="roundRect">
            <a:avLst>
              <a:gd name="adj" fmla="val 12000"/>
            </a:avLst>
          </a:prstGeom>
          <a:solidFill>
            <a:srgbClr val="1E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29718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ple SD Gothic Neo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28803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21E48"/>
                </a:solidFill>
                <a:latin typeface="Apple SD Gothic Neo"/>
              </a:defRPr>
            </a:pPr>
            <a:r>
              <a:t>핵심 개념 정리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3246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08C"/>
                </a:solidFill>
                <a:latin typeface="Apple SD Gothic Neo"/>
              </a:defRPr>
            </a:pPr>
            <a:r>
              <a:t>주요 용어 2~3개 설명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2743200"/>
            <a:ext cx="5303520" cy="1005840"/>
          </a:xfrm>
          <a:prstGeom prst="roundRect">
            <a:avLst>
              <a:gd name="adj" fmla="val 4000"/>
            </a:avLst>
          </a:prstGeom>
          <a:solidFill>
            <a:srgbClr val="E6F8EE"/>
          </a:solidFill>
          <a:ln w="12700">
            <a:solidFill>
              <a:srgbClr val="D2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65392" y="2971800"/>
            <a:ext cx="411480" cy="411480"/>
          </a:xfrm>
          <a:prstGeom prst="roundRect">
            <a:avLst>
              <a:gd name="adj" fmla="val 12000"/>
            </a:avLst>
          </a:prstGeom>
          <a:solidFill>
            <a:srgbClr val="1E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65392" y="29718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ple SD Gothic Neo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50608" y="28803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21E48"/>
                </a:solidFill>
                <a:latin typeface="Apple SD Gothic Neo"/>
              </a:defRPr>
            </a:pPr>
            <a:r>
              <a:t>탐구 방법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50608" y="3246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08C"/>
                </a:solidFill>
                <a:latin typeface="Apple SD Gothic Neo"/>
              </a:defRPr>
            </a:pPr>
            <a:r>
              <a:t>어떻게 조사/실험/비교할 것인지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3977639"/>
            <a:ext cx="5303520" cy="1005840"/>
          </a:xfrm>
          <a:prstGeom prst="roundRect">
            <a:avLst>
              <a:gd name="adj" fmla="val 4000"/>
            </a:avLst>
          </a:prstGeom>
          <a:solidFill>
            <a:srgbClr val="FFF4E6"/>
          </a:solidFill>
          <a:ln w="12700">
            <a:solidFill>
              <a:srgbClr val="D2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96112" y="4206240"/>
            <a:ext cx="411480" cy="411480"/>
          </a:xfrm>
          <a:prstGeom prst="roundRect">
            <a:avLst>
              <a:gd name="adj" fmla="val 12000"/>
            </a:avLst>
          </a:prstGeom>
          <a:solidFill>
            <a:srgbClr val="1E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" y="42062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ple SD Gothic Neo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81328" y="4114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21E48"/>
                </a:solidFill>
                <a:latin typeface="Apple SD Gothic Neo"/>
              </a:defRPr>
            </a:pPr>
            <a:r>
              <a:t>조사/실험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81328" y="448055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08C"/>
                </a:solidFill>
                <a:latin typeface="Apple SD Gothic Neo"/>
              </a:defRPr>
            </a:pPr>
            <a:r>
              <a:t>찾은 것, 만든 것, 비교한 것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3977639"/>
            <a:ext cx="5303520" cy="1005840"/>
          </a:xfrm>
          <a:prstGeom prst="roundRect">
            <a:avLst>
              <a:gd name="adj" fmla="val 4000"/>
            </a:avLst>
          </a:prstGeom>
          <a:solidFill>
            <a:srgbClr val="FFF4E6"/>
          </a:solidFill>
          <a:ln w="12700">
            <a:solidFill>
              <a:srgbClr val="D2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565392" y="4206240"/>
            <a:ext cx="411480" cy="411480"/>
          </a:xfrm>
          <a:prstGeom prst="roundRect">
            <a:avLst>
              <a:gd name="adj" fmla="val 12000"/>
            </a:avLst>
          </a:prstGeom>
          <a:solidFill>
            <a:srgbClr val="1E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65392" y="42062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ple SD Gothic Neo"/>
              </a:defRPr>
            </a:pPr>
            <a: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50608" y="4114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21E48"/>
                </a:solidFill>
                <a:latin typeface="Apple SD Gothic Neo"/>
              </a:defRPr>
            </a:pPr>
            <a:r>
              <a:t>해석 및 느낀 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50608" y="448055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08C"/>
                </a:solidFill>
                <a:latin typeface="Apple SD Gothic Neo"/>
              </a:defRPr>
            </a:pPr>
            <a:r>
              <a:t>결과를 어떻게 이해하는지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5212080"/>
            <a:ext cx="5303520" cy="1005840"/>
          </a:xfrm>
          <a:prstGeom prst="roundRect">
            <a:avLst>
              <a:gd name="adj" fmla="val 4000"/>
            </a:avLst>
          </a:prstGeom>
          <a:solidFill>
            <a:srgbClr val="F0F2F8"/>
          </a:solidFill>
          <a:ln w="12700">
            <a:solidFill>
              <a:srgbClr val="D2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96112" y="5440680"/>
            <a:ext cx="411480" cy="411480"/>
          </a:xfrm>
          <a:prstGeom prst="roundRect">
            <a:avLst>
              <a:gd name="adj" fmla="val 12000"/>
            </a:avLst>
          </a:prstGeom>
          <a:solidFill>
            <a:srgbClr val="1E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6112" y="54406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ple SD Gothic Neo"/>
              </a:defRPr>
            </a:pPr>
            <a: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81328" y="53492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21E48"/>
                </a:solidFill>
                <a:latin typeface="Apple SD Gothic Neo"/>
              </a:defRPr>
            </a:pPr>
            <a:r>
              <a:t>참고 자료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81328" y="57150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08C"/>
                </a:solidFill>
                <a:latin typeface="Apple SD Gothic Neo"/>
              </a:defRPr>
            </a:pPr>
            <a:r>
              <a:t>출처 명확하게 정리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5349240"/>
            <a:ext cx="10789920" cy="502920"/>
          </a:xfrm>
          <a:prstGeom prst="roundRect">
            <a:avLst>
              <a:gd name="adj" fmla="val 4000"/>
            </a:avLst>
          </a:prstGeom>
          <a:solidFill>
            <a:srgbClr val="F2EBFF"/>
          </a:solidFill>
          <a:ln w="12700">
            <a:solidFill>
              <a:srgbClr val="D2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5840" y="5440679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E3CBE"/>
                </a:solidFill>
                <a:latin typeface="Apple SD Gothic Neo"/>
              </a:defRPr>
            </a:pPr>
            <a:r>
              <a:t>💡 결론을 멋있게 쓰는 것보다, 과정이 보이게 쓰는 것이 더 중요합니다.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1E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512064"/>
            <a:ext cx="530352" cy="365760"/>
          </a:xfrm>
          <a:prstGeom prst="roundRect">
            <a:avLst>
              <a:gd name="adj" fmla="val 8000"/>
            </a:avLst>
          </a:prstGeom>
          <a:solidFill>
            <a:srgbClr val="1E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ple SD Gothic Neo"/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457200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21E48"/>
                </a:solidFill>
                <a:latin typeface="Apple SD Gothic Neo"/>
              </a:defRPr>
            </a:pPr>
            <a:r>
              <a:t>여러분의 주제, 이렇게 바꿔보면?</a:t>
            </a:r>
          </a:p>
        </p:txBody>
      </p:sp>
      <p:sp>
        <p:nvSpPr>
          <p:cNvPr id="5" name="Rectangle 4"/>
          <p:cNvSpPr/>
          <p:nvPr/>
        </p:nvSpPr>
        <p:spPr>
          <a:xfrm>
            <a:off x="1234440" y="950976"/>
            <a:ext cx="10058400" cy="22860"/>
          </a:xfrm>
          <a:prstGeom prst="rect">
            <a:avLst/>
          </a:prstGeom>
          <a:solidFill>
            <a:srgbClr val="1E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61872" y="1024128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08C"/>
                </a:solidFill>
                <a:latin typeface="Apple SD Gothic Neo"/>
              </a:defRPr>
            </a:pPr>
            <a:r>
              <a:t>구현에서 끝나지 않고 '비교/분석'을 넣으면 탐구가 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7315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4708C"/>
                </a:solidFill>
                <a:latin typeface="Apple SD Gothic Neo"/>
              </a:defRPr>
            </a:pPr>
            <a:r>
              <a:t>2026. 04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08C"/>
                </a:solidFill>
                <a:latin typeface="Apple SD Gothic Neo"/>
              </a:defRPr>
            </a:pPr>
            <a:r>
              <a:t>최재영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4652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08C"/>
                </a:solidFill>
                <a:latin typeface="Apple SD Gothic Neo"/>
              </a:defRPr>
            </a:pPr>
            <a:r>
              <a:t>대산고 AI·SW 탐구 프로그램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18488"/>
            <a:ext cx="1097280" cy="457200"/>
          </a:xfrm>
          <a:prstGeom prst="roundRect">
            <a:avLst>
              <a:gd name="adj" fmla="val 10000"/>
            </a:avLst>
          </a:prstGeom>
          <a:solidFill>
            <a:srgbClr val="121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18488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ple SD Gothic Neo"/>
              </a:defRPr>
            </a:pPr>
            <a:r>
              <a:t>박찬유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65960" y="1508760"/>
            <a:ext cx="4114800" cy="749808"/>
          </a:xfrm>
          <a:prstGeom prst="roundRect">
            <a:avLst>
              <a:gd name="adj" fmla="val 4000"/>
            </a:avLst>
          </a:prstGeom>
          <a:solidFill>
            <a:srgbClr val="FFEBEB"/>
          </a:solidFill>
          <a:ln w="12700">
            <a:solidFill>
              <a:srgbClr val="D2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48840" y="1691639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02430"/>
                </a:solidFill>
                <a:latin typeface="Apple SD Gothic Neo"/>
              </a:defRPr>
            </a:pPr>
            <a:r>
              <a:t>하이브리드 검색 기반 RAG 모델 구축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645919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4708C"/>
                </a:solidFill>
                <a:latin typeface="Apple SD Gothic Neo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29400" y="1508760"/>
            <a:ext cx="4846320" cy="749808"/>
          </a:xfrm>
          <a:prstGeom prst="roundRect">
            <a:avLst>
              <a:gd name="adj" fmla="val 4000"/>
            </a:avLst>
          </a:prstGeom>
          <a:solidFill>
            <a:srgbClr val="E6F8EE"/>
          </a:solidFill>
          <a:ln w="12700">
            <a:solidFill>
              <a:srgbClr val="D2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12280" y="1691639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28B5E"/>
                </a:solidFill>
                <a:latin typeface="Apple SD Gothic Neo"/>
              </a:defRPr>
            </a:pPr>
            <a:r>
              <a:t>검색 방식에 따른 답변 정확도 비교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606040"/>
            <a:ext cx="1097280" cy="457200"/>
          </a:xfrm>
          <a:prstGeom prst="roundRect">
            <a:avLst>
              <a:gd name="adj" fmla="val 10000"/>
            </a:avLst>
          </a:prstGeom>
          <a:solidFill>
            <a:srgbClr val="121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6060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ple SD Gothic Neo"/>
              </a:defRPr>
            </a:pPr>
            <a:r>
              <a:t>전하율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65960" y="2496312"/>
            <a:ext cx="4114800" cy="749808"/>
          </a:xfrm>
          <a:prstGeom prst="roundRect">
            <a:avLst>
              <a:gd name="adj" fmla="val 4000"/>
            </a:avLst>
          </a:prstGeom>
          <a:solidFill>
            <a:srgbClr val="FFEBEB"/>
          </a:solidFill>
          <a:ln w="12700">
            <a:solidFill>
              <a:srgbClr val="D2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48840" y="2679192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02430"/>
                </a:solidFill>
                <a:latin typeface="Apple SD Gothic Neo"/>
              </a:defRPr>
            </a:pPr>
            <a:r>
              <a:t>CNN을 활용한 손글씨 숫자 인식 구현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63347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4708C"/>
                </a:solidFill>
                <a:latin typeface="Apple SD Gothic Neo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29400" y="2496312"/>
            <a:ext cx="4846320" cy="749808"/>
          </a:xfrm>
          <a:prstGeom prst="roundRect">
            <a:avLst>
              <a:gd name="adj" fmla="val 4000"/>
            </a:avLst>
          </a:prstGeom>
          <a:solidFill>
            <a:srgbClr val="E6F8EE"/>
          </a:solidFill>
          <a:ln w="12700">
            <a:solidFill>
              <a:srgbClr val="D2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2679192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28B5E"/>
                </a:solidFill>
                <a:latin typeface="Apple SD Gothic Neo"/>
              </a:defRPr>
            </a:pPr>
            <a:r>
              <a:t>CNN 구조별 손글씨 인식 성능 비교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593592"/>
            <a:ext cx="1097280" cy="457200"/>
          </a:xfrm>
          <a:prstGeom prst="roundRect">
            <a:avLst>
              <a:gd name="adj" fmla="val 10000"/>
            </a:avLst>
          </a:prstGeom>
          <a:solidFill>
            <a:srgbClr val="121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593592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ple SD Gothic Neo"/>
              </a:defRPr>
            </a:pPr>
            <a:r>
              <a:t>정윤호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965960" y="3483864"/>
            <a:ext cx="4114800" cy="749808"/>
          </a:xfrm>
          <a:prstGeom prst="roundRect">
            <a:avLst>
              <a:gd name="adj" fmla="val 4000"/>
            </a:avLst>
          </a:prstGeom>
          <a:solidFill>
            <a:srgbClr val="FFEBEB"/>
          </a:solidFill>
          <a:ln w="12700">
            <a:solidFill>
              <a:srgbClr val="D2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48840" y="3666744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02430"/>
                </a:solidFill>
                <a:latin typeface="Apple SD Gothic Neo"/>
              </a:defRPr>
            </a:pPr>
            <a:r>
              <a:t>게임에서 공정한 랜덤의 존재 여부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362102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4708C"/>
                </a:solidFill>
                <a:latin typeface="Apple SD Gothic Neo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29400" y="3483864"/>
            <a:ext cx="4846320" cy="749808"/>
          </a:xfrm>
          <a:prstGeom prst="roundRect">
            <a:avLst>
              <a:gd name="adj" fmla="val 4000"/>
            </a:avLst>
          </a:prstGeom>
          <a:solidFill>
            <a:srgbClr val="E6F8EE"/>
          </a:solidFill>
          <a:ln w="12700">
            <a:solidFill>
              <a:srgbClr val="D2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12280" y="3666744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28B5E"/>
                </a:solidFill>
                <a:latin typeface="Apple SD Gothic Neo"/>
              </a:defRPr>
            </a:pPr>
            <a:r>
              <a:t>시뮬레이션을 통한 확률 분포 수렴 비교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4581144"/>
            <a:ext cx="1097280" cy="457200"/>
          </a:xfrm>
          <a:prstGeom prst="roundRect">
            <a:avLst>
              <a:gd name="adj" fmla="val 10000"/>
            </a:avLst>
          </a:prstGeom>
          <a:solidFill>
            <a:srgbClr val="121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581144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ple SD Gothic Neo"/>
              </a:defRPr>
            </a:pPr>
            <a:r>
              <a:t>박시우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965960" y="4471416"/>
            <a:ext cx="4114800" cy="749808"/>
          </a:xfrm>
          <a:prstGeom prst="roundRect">
            <a:avLst>
              <a:gd name="adj" fmla="val 4000"/>
            </a:avLst>
          </a:prstGeom>
          <a:solidFill>
            <a:srgbClr val="FFEBEB"/>
          </a:solidFill>
          <a:ln w="12700">
            <a:solidFill>
              <a:srgbClr val="D2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48840" y="4654296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02430"/>
                </a:solidFill>
                <a:latin typeface="Apple SD Gothic Neo"/>
              </a:defRPr>
            </a:pPr>
            <a:r>
              <a:t>MITM 공격 원리 분석 및 암호화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460857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4708C"/>
                </a:solidFill>
                <a:latin typeface="Apple SD Gothic Neo"/>
              </a:defRPr>
            </a:pPr>
            <a: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29400" y="4471416"/>
            <a:ext cx="4846320" cy="749808"/>
          </a:xfrm>
          <a:prstGeom prst="roundRect">
            <a:avLst>
              <a:gd name="adj" fmla="val 4000"/>
            </a:avLst>
          </a:prstGeom>
          <a:solidFill>
            <a:srgbClr val="E6F8EE"/>
          </a:solidFill>
          <a:ln w="12700">
            <a:solidFill>
              <a:srgbClr val="D2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12280" y="4654296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28B5E"/>
                </a:solidFill>
                <a:latin typeface="Apple SD Gothic Neo"/>
              </a:defRPr>
            </a:pPr>
            <a:r>
              <a:t>암호화가 MITM 공격 위험을 줄이는 방법 분석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5568696"/>
            <a:ext cx="1097280" cy="457200"/>
          </a:xfrm>
          <a:prstGeom prst="roundRect">
            <a:avLst>
              <a:gd name="adj" fmla="val 10000"/>
            </a:avLst>
          </a:prstGeom>
          <a:solidFill>
            <a:srgbClr val="121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5568696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ple SD Gothic Neo"/>
              </a:defRPr>
            </a:pPr>
            <a:r>
              <a:t>황재민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965960" y="5458968"/>
            <a:ext cx="4114800" cy="749808"/>
          </a:xfrm>
          <a:prstGeom prst="roundRect">
            <a:avLst>
              <a:gd name="adj" fmla="val 4000"/>
            </a:avLst>
          </a:prstGeom>
          <a:solidFill>
            <a:srgbClr val="FFEBEB"/>
          </a:solidFill>
          <a:ln w="12700">
            <a:solidFill>
              <a:srgbClr val="D2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48840" y="5641848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02430"/>
                </a:solidFill>
                <a:latin typeface="Apple SD Gothic Neo"/>
              </a:defRPr>
            </a:pPr>
            <a:r>
              <a:t>로드밸런싱을 통한 서버 과부하 해결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6480" y="55961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4708C"/>
                </a:solidFill>
                <a:latin typeface="Apple SD Gothic Neo"/>
              </a:defRPr>
            </a:pPr>
            <a:r>
              <a:t>→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629400" y="5458968"/>
            <a:ext cx="4846320" cy="749808"/>
          </a:xfrm>
          <a:prstGeom prst="roundRect">
            <a:avLst>
              <a:gd name="adj" fmla="val 4000"/>
            </a:avLst>
          </a:prstGeom>
          <a:solidFill>
            <a:srgbClr val="E6F8EE"/>
          </a:solidFill>
          <a:ln w="12700">
            <a:solidFill>
              <a:srgbClr val="D2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12280" y="564184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28B5E"/>
                </a:solidFill>
                <a:latin typeface="Apple SD Gothic Neo"/>
              </a:defRPr>
            </a:pPr>
            <a:r>
              <a:t>로드밸런싱 방식별 처리 효율 비교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1E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512064"/>
            <a:ext cx="530352" cy="365760"/>
          </a:xfrm>
          <a:prstGeom prst="roundRect">
            <a:avLst>
              <a:gd name="adj" fmla="val 8000"/>
            </a:avLst>
          </a:prstGeom>
          <a:solidFill>
            <a:srgbClr val="1E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ple SD Gothic Neo"/>
              </a:defRPr>
            </a:pPr>
            <a:r>
              <a:t>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457200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21E48"/>
                </a:solidFill>
                <a:latin typeface="Apple SD Gothic Neo"/>
              </a:defRPr>
            </a:pPr>
            <a:r>
              <a:t>2차시까지 할 과제</a:t>
            </a:r>
          </a:p>
        </p:txBody>
      </p:sp>
      <p:sp>
        <p:nvSpPr>
          <p:cNvPr id="5" name="Rectangle 4"/>
          <p:cNvSpPr/>
          <p:nvPr/>
        </p:nvSpPr>
        <p:spPr>
          <a:xfrm>
            <a:off x="1234440" y="950976"/>
            <a:ext cx="10058400" cy="22860"/>
          </a:xfrm>
          <a:prstGeom prst="rect">
            <a:avLst/>
          </a:prstGeom>
          <a:solidFill>
            <a:srgbClr val="1E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61872" y="1024128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08C"/>
                </a:solidFill>
                <a:latin typeface="Apple SD Gothic Neo"/>
              </a:defRPr>
            </a:pPr>
            <a:r>
              <a:t>다음 시간에 바로 점검합니다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7315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4708C"/>
                </a:solidFill>
                <a:latin typeface="Apple SD Gothic Neo"/>
              </a:defRPr>
            </a:pPr>
            <a:r>
              <a:t>2026. 04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08C"/>
                </a:solidFill>
                <a:latin typeface="Apple SD Gothic Neo"/>
              </a:defRPr>
            </a:pPr>
            <a:r>
              <a:t>최재영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4652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08C"/>
                </a:solidFill>
                <a:latin typeface="Apple SD Gothic Neo"/>
              </a:defRPr>
            </a:pPr>
            <a:r>
              <a:t>대산고 AI·SW 탐구 프로그램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508760"/>
            <a:ext cx="5212080" cy="2286000"/>
          </a:xfrm>
          <a:prstGeom prst="roundRect">
            <a:avLst>
              <a:gd name="adj" fmla="val 4000"/>
            </a:avLst>
          </a:prstGeom>
          <a:solidFill>
            <a:srgbClr val="E8F0FF"/>
          </a:solidFill>
          <a:ln w="12700">
            <a:solidFill>
              <a:srgbClr val="D2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636776"/>
            <a:ext cx="4809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40A0"/>
                </a:solidFill>
                <a:latin typeface="Apple SD Gothic Neo"/>
              </a:defRPr>
            </a:pPr>
            <a:r>
              <a:t>과제 1: 주제 구체화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10312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02430"/>
                </a:solidFill>
                <a:latin typeface="Apple SD Gothic Neo"/>
              </a:defRPr>
            </a:pPr>
            <a:r>
              <a:t>• 최종 희망 주제 1개 확정</a:t>
            </a:r>
          </a:p>
          <a:p>
            <a:pPr>
              <a:spcAft>
                <a:spcPts val="500"/>
              </a:spcAft>
              <a:defRPr sz="1400">
                <a:solidFill>
                  <a:srgbClr val="202430"/>
                </a:solidFill>
                <a:latin typeface="Apple SD Gothic Neo"/>
              </a:defRPr>
            </a:pPr>
            <a:r>
              <a:t>• 한 문장 탐구 질문 작성</a:t>
            </a:r>
          </a:p>
          <a:p>
            <a:pPr>
              <a:spcAft>
                <a:spcPts val="500"/>
              </a:spcAft>
              <a:defRPr sz="1400">
                <a:solidFill>
                  <a:srgbClr val="202430"/>
                </a:solidFill>
                <a:latin typeface="Apple SD Gothic Neo"/>
              </a:defRPr>
            </a:pPr>
            <a:r>
              <a:t>• 왜 이 주제를 하고 싶은지</a:t>
            </a:r>
          </a:p>
          <a:p>
            <a:pPr>
              <a:spcAft>
                <a:spcPts val="500"/>
              </a:spcAft>
              <a:defRPr sz="1400">
                <a:solidFill>
                  <a:srgbClr val="202430"/>
                </a:solidFill>
                <a:latin typeface="Apple SD Gothic Neo"/>
              </a:defRPr>
            </a:pPr>
            <a:r>
              <a:t>• 어떤 방식으로 탐구할지 간단히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508760"/>
            <a:ext cx="5212080" cy="2286000"/>
          </a:xfrm>
          <a:prstGeom prst="roundRect">
            <a:avLst>
              <a:gd name="adj" fmla="val 4000"/>
            </a:avLst>
          </a:prstGeom>
          <a:solidFill>
            <a:srgbClr val="E6F8EE"/>
          </a:solidFill>
          <a:ln w="12700">
            <a:solidFill>
              <a:srgbClr val="D2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7" y="1636776"/>
            <a:ext cx="4809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8B5E"/>
                </a:solidFill>
                <a:latin typeface="Apple SD Gothic Neo"/>
              </a:defRPr>
            </a:pPr>
            <a:r>
              <a:t>과제 2: 자료조사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10312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02430"/>
                </a:solidFill>
                <a:latin typeface="Apple SD Gothic Neo"/>
              </a:defRPr>
            </a:pPr>
            <a:r>
              <a:t>• 관련 자료 최소 3개 찾기</a:t>
            </a:r>
          </a:p>
          <a:p>
            <a:pPr>
              <a:spcAft>
                <a:spcPts val="500"/>
              </a:spcAft>
              <a:defRPr sz="1400">
                <a:solidFill>
                  <a:srgbClr val="202430"/>
                </a:solidFill>
                <a:latin typeface="Apple SD Gothic Neo"/>
              </a:defRPr>
            </a:pPr>
            <a:r>
              <a:t>• 각 자료의 제목 / 출처 (링크)</a:t>
            </a:r>
          </a:p>
          <a:p>
            <a:pPr>
              <a:spcAft>
                <a:spcPts val="500"/>
              </a:spcAft>
              <a:defRPr sz="1400">
                <a:solidFill>
                  <a:srgbClr val="202430"/>
                </a:solidFill>
                <a:latin typeface="Apple SD Gothic Neo"/>
              </a:defRPr>
            </a:pPr>
            <a:r>
              <a:t>• 핵심 내용 2~3줄 요약</a:t>
            </a:r>
          </a:p>
          <a:p>
            <a:pPr>
              <a:spcAft>
                <a:spcPts val="500"/>
              </a:spcAft>
              <a:defRPr sz="1400">
                <a:solidFill>
                  <a:srgbClr val="202430"/>
                </a:solidFill>
                <a:latin typeface="Apple SD Gothic Neo"/>
              </a:defRPr>
            </a:pPr>
            <a:r>
              <a:t>• 왜 이 자료가 믿을 만한지 한 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069080"/>
            <a:ext cx="5212080" cy="2103120"/>
          </a:xfrm>
          <a:prstGeom prst="roundRect">
            <a:avLst>
              <a:gd name="adj" fmla="val 4000"/>
            </a:avLst>
          </a:prstGeom>
          <a:solidFill>
            <a:srgbClr val="FFF4E6"/>
          </a:solidFill>
          <a:ln w="12700">
            <a:solidFill>
              <a:srgbClr val="D2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4197096"/>
            <a:ext cx="4809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C781E"/>
                </a:solidFill>
                <a:latin typeface="Apple SD Gothic Neo"/>
              </a:defRPr>
            </a:pPr>
            <a:r>
              <a:t>과제 3: 탐구 방향 초안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66344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02430"/>
                </a:solidFill>
                <a:latin typeface="Apple SD Gothic Neo"/>
              </a:defRPr>
            </a:pPr>
            <a:r>
              <a:t>• 내가 비교/분석하려는 것</a:t>
            </a:r>
          </a:p>
          <a:p>
            <a:pPr>
              <a:spcAft>
                <a:spcPts val="500"/>
              </a:spcAft>
              <a:defRPr sz="1400">
                <a:solidFill>
                  <a:srgbClr val="202430"/>
                </a:solidFill>
                <a:latin typeface="Apple SD Gothic Neo"/>
              </a:defRPr>
            </a:pPr>
            <a:r>
              <a:t>• 필요한 프로그램이나 준비물</a:t>
            </a:r>
          </a:p>
          <a:p>
            <a:pPr>
              <a:spcAft>
                <a:spcPts val="500"/>
              </a:spcAft>
              <a:defRPr sz="1400">
                <a:solidFill>
                  <a:srgbClr val="202430"/>
                </a:solidFill>
                <a:latin typeface="Apple SD Gothic Neo"/>
              </a:defRPr>
            </a:pPr>
            <a:r>
              <a:t>• 예상 결과 또는 가설</a:t>
            </a:r>
          </a:p>
          <a:p>
            <a:pPr>
              <a:spcAft>
                <a:spcPts val="500"/>
              </a:spcAft>
              <a:defRPr sz="1400">
                <a:solidFill>
                  <a:srgbClr val="202430"/>
                </a:solidFill>
                <a:latin typeface="Apple SD Gothic Neo"/>
              </a:defRPr>
            </a:pPr>
            <a:r>
              <a:t>• 어려울 것 같은 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4069080"/>
            <a:ext cx="5212080" cy="2103120"/>
          </a:xfrm>
          <a:prstGeom prst="roundRect">
            <a:avLst>
              <a:gd name="adj" fmla="val 4000"/>
            </a:avLst>
          </a:prstGeom>
          <a:solidFill>
            <a:srgbClr val="F2EBFF"/>
          </a:solidFill>
          <a:ln w="12700">
            <a:solidFill>
              <a:srgbClr val="D2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4807" y="4197096"/>
            <a:ext cx="4809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E3CBE"/>
                </a:solidFill>
                <a:latin typeface="Apple SD Gothic Neo"/>
              </a:defRPr>
            </a:pPr>
            <a:r>
              <a:t>📅 제출 안내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66344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02430"/>
                </a:solidFill>
                <a:latin typeface="Apple SD Gothic Neo"/>
              </a:defRPr>
            </a:pPr>
            <a:r>
              <a:t>• 2차시 전까지 제출</a:t>
            </a:r>
          </a:p>
          <a:p>
            <a:pPr>
              <a:spcAft>
                <a:spcPts val="500"/>
              </a:spcAft>
              <a:defRPr sz="1400">
                <a:solidFill>
                  <a:srgbClr val="202430"/>
                </a:solidFill>
                <a:latin typeface="Apple SD Gothic Neo"/>
              </a:defRPr>
            </a:pPr>
            <a:r>
              <a:t>• 형식: 자유 (문서/메모/노션 등)</a:t>
            </a:r>
          </a:p>
          <a:p>
            <a:pPr>
              <a:spcAft>
                <a:spcPts val="500"/>
              </a:spcAft>
              <a:defRPr sz="1400">
                <a:solidFill>
                  <a:srgbClr val="202430"/>
                </a:solidFill>
                <a:latin typeface="Apple SD Gothic Neo"/>
              </a:defRPr>
            </a:pPr>
            <a:r>
              <a:t>• 다음 시간에 주제 점검 &amp; 확정</a:t>
            </a:r>
          </a:p>
          <a:p>
            <a:pPr>
              <a:spcAft>
                <a:spcPts val="500"/>
              </a:spcAft>
              <a:defRPr sz="1400">
                <a:solidFill>
                  <a:srgbClr val="202430"/>
                </a:solidFill>
                <a:latin typeface="Apple SD Gothic Neo"/>
              </a:defRPr>
            </a:pPr>
            <a:r>
              <a:t>• 확정 후 바로 탐구 시작!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E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E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0">
                <a:solidFill>
                  <a:srgbClr val="508CFF"/>
                </a:solidFill>
                <a:latin typeface="Apple SD Gothic Neo"/>
              </a:defRPr>
            </a:pPr>
            <a:r>
              <a:t>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5603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pple SD Gothic Neo"/>
              </a:defRPr>
            </a:pPr>
            <a:r>
              <a:t>Q &amp;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3832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CE8FF"/>
                </a:solidFill>
                <a:latin typeface="Apple SD Gothic Neo"/>
              </a:defRPr>
            </a:pPr>
            <a:r>
              <a:t>궁금한 것이 있으면 편하게 물어보세요!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572000"/>
            <a:ext cx="121916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08CFF"/>
                </a:solidFill>
                <a:latin typeface="Apple SD Gothic Neo"/>
              </a:defRPr>
            </a:pPr>
            <a:r>
              <a:t>오늘 기억할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937760"/>
            <a:ext cx="12191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DCE8FF"/>
                </a:solidFill>
                <a:latin typeface="Apple SD Gothic Neo"/>
              </a:defRPr>
            </a:pPr>
            <a:r>
              <a:t>좋은 주제 = 끝까지 탐구할 수 있는 질문</a:t>
            </a:r>
            <a:br/>
            <a:r>
              <a:t>AI 도구는 생각을 대신하지 않는다 — 도구일 뿐</a:t>
            </a:r>
            <a:br/>
            <a:r>
              <a:t>구현보다 비교·분석·해석이 탐구를 완성한다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7315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C8D2F0"/>
                </a:solidFill>
                <a:latin typeface="Apple SD Gothic Neo"/>
              </a:defRPr>
            </a:pPr>
            <a:r>
              <a:t>2026. 04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C3E6"/>
                </a:solidFill>
                <a:latin typeface="Apple SD Gothic Neo"/>
              </a:defRPr>
            </a:pPr>
            <a:r>
              <a:t>최재영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4C3E6"/>
                </a:solidFill>
                <a:latin typeface="Apple SD Gothic Neo"/>
              </a:defRPr>
            </a:pPr>
            <a:r>
              <a:t>대산고 AI·SW 탐구 프로그램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